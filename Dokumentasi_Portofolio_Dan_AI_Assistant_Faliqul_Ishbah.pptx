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1280160"/>
            <a:ext cx="3840480" cy="384048"/>
          </a:xfrm>
          <a:prstGeom prst="roundRect">
            <a:avLst/>
          </a:prstGeom>
          <a:solidFill>
            <a:srgbClr val="26163C"/>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A855F7"/>
                </a:solidFill>
              </a:defRPr>
            </a:pPr>
            <a:r>
              <a:t>WEBSITE PORTOFOLIO &amp; AI ASSISTANT INTERAKTIF</a:t>
            </a:r>
          </a:p>
        </p:txBody>
      </p:sp>
      <p:sp>
        <p:nvSpPr>
          <p:cNvPr id="5" name="TextBox 4"/>
          <p:cNvSpPr txBox="1"/>
          <p:nvPr/>
        </p:nvSpPr>
        <p:spPr>
          <a:xfrm>
            <a:off x="1097280" y="1828800"/>
            <a:ext cx="9875520" cy="1463040"/>
          </a:xfrm>
          <a:prstGeom prst="rect">
            <a:avLst/>
          </a:prstGeom>
          <a:noFill/>
        </p:spPr>
        <p:txBody>
          <a:bodyPr wrap="square" lIns="0" tIns="0" rIns="0" bIns="0">
            <a:spAutoFit/>
          </a:bodyPr>
          <a:lstStyle/>
          <a:p>
            <a:pPr>
              <a:defRPr sz="3300" b="1">
                <a:solidFill>
                  <a:srgbClr val="FFFFFF"/>
                </a:solidFill>
              </a:defRPr>
            </a:pPr>
            <a:r>
              <a:t>Portofolio Digital Modern Berdaya AI Conversational</a:t>
            </a:r>
          </a:p>
        </p:txBody>
      </p:sp>
      <p:sp>
        <p:nvSpPr>
          <p:cNvPr id="6" name="TextBox 5"/>
          <p:cNvSpPr txBox="1"/>
          <p:nvPr/>
        </p:nvSpPr>
        <p:spPr>
          <a:xfrm>
            <a:off x="1097280" y="3246120"/>
            <a:ext cx="9875520" cy="1005840"/>
          </a:xfrm>
          <a:prstGeom prst="rect">
            <a:avLst/>
          </a:prstGeom>
          <a:noFill/>
        </p:spPr>
        <p:txBody>
          <a:bodyPr wrap="square" lIns="0" tIns="0" rIns="0" bIns="0">
            <a:spAutoFit/>
          </a:bodyPr>
          <a:lstStyle/>
          <a:p>
            <a:pPr>
              <a:defRPr sz="1500">
                <a:solidFill>
                  <a:srgbClr val="A0AEC0"/>
                </a:solidFill>
              </a:defRPr>
            </a:pPr>
            <a:r>
              <a:t>Dokumentasi Arsitektur, Desain Interaktif 3D WebGL, &amp; Penerapan Google Gemini AI Asisten pada:</a:t>
            </a:r>
            <a:br/>
            <a:r>
              <a:t>faliq-portfolio.vercel.app  (Faliqul Ishbah)</a:t>
            </a:r>
          </a:p>
        </p:txBody>
      </p:sp>
      <p:sp>
        <p:nvSpPr>
          <p:cNvPr id="7" name="Rounded Rectangle 6"/>
          <p:cNvSpPr/>
          <p:nvPr/>
        </p:nvSpPr>
        <p:spPr>
          <a:xfrm>
            <a:off x="1097280" y="4572000"/>
            <a:ext cx="9875520" cy="14630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4754880"/>
            <a:ext cx="9326880" cy="1097280"/>
          </a:xfrm>
          <a:prstGeom prst="rect">
            <a:avLst/>
          </a:prstGeom>
          <a:noFill/>
        </p:spPr>
        <p:txBody>
          <a:bodyPr wrap="square">
            <a:spAutoFit/>
          </a:bodyPr>
          <a:lstStyle/>
          <a:p>
            <a:pPr>
              <a:defRPr sz="1800" b="1">
                <a:solidFill>
                  <a:srgbClr val="38BDF8"/>
                </a:solidFill>
              </a:defRPr>
            </a:pPr>
            <a:r>
              <a:t>Faliqul Ishbah</a:t>
            </a:r>
          </a:p>
          <a:p>
            <a:pPr>
              <a:defRPr sz="1300">
                <a:solidFill>
                  <a:srgbClr val="CBD5E1"/>
                </a:solidFill>
              </a:defRPr>
            </a:pPr>
            <a:r>
              <a:t>AI Automation Engineer • Data Scientist • Fullstack &amp; Frontend Developer</a:t>
            </a:r>
          </a:p>
          <a:p>
            <a:pPr>
              <a:defRPr sz="1100">
                <a:solidFill>
                  <a:srgbClr val="A0AEC0"/>
                </a:solidFill>
              </a:defRPr>
            </a:pPr>
            <a:r>
              <a:t>Stack: Next.js 13+ App Router, Google Generative AI (Gemini), React Three Fiber (3D), Framer Motion, Tailwind CSS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A855F7"/>
                </a:solidFill>
              </a:defRPr>
            </a:pPr>
            <a:r>
              <a:t>RINGKASAN EKSEKUTIF</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Bukan Sekadar Resume Statis: Portofolio Cerdas yang Hidup</a:t>
            </a:r>
          </a:p>
        </p:txBody>
      </p:sp>
      <p:sp>
        <p:nvSpPr>
          <p:cNvPr id="5" name="Rounded Rectangle 4"/>
          <p:cNvSpPr/>
          <p:nvPr/>
        </p:nvSpPr>
        <p:spPr>
          <a:xfrm>
            <a:off x="731520" y="1645920"/>
            <a:ext cx="342900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2971800" cy="4297680"/>
          </a:xfrm>
          <a:prstGeom prst="rect">
            <a:avLst/>
          </a:prstGeom>
          <a:noFill/>
        </p:spPr>
        <p:txBody>
          <a:bodyPr wrap="square" lIns="0" tIns="0" rIns="0" bIns="0">
            <a:spAutoFit/>
          </a:bodyPr>
          <a:lstStyle/>
          <a:p>
            <a:pPr>
              <a:defRPr sz="1000" b="1">
                <a:solidFill>
                  <a:srgbClr val="A855F7"/>
                </a:solidFill>
              </a:defRPr>
            </a:pPr>
            <a:r>
              <a:t>PILAR 01</a:t>
            </a:r>
          </a:p>
          <a:p>
            <a:pPr>
              <a:spcAft>
                <a:spcPts val="400"/>
              </a:spcAft>
              <a:defRPr sz="1700" b="1">
                <a:solidFill>
                  <a:srgbClr val="FFFFFF"/>
                </a:solidFill>
              </a:defRPr>
            </a:pPr>
            <a:r>
              <a:t>Interactive AI Assistant</a:t>
            </a:r>
          </a:p>
          <a:p>
            <a:pPr>
              <a:spcAft>
                <a:spcPts val="1200"/>
              </a:spcAft>
              <a:defRPr sz="1050">
                <a:solidFill>
                  <a:srgbClr val="CBD5E1"/>
                </a:solidFill>
              </a:defRPr>
            </a:pPr>
            <a:r>
              <a:t>Chatbot pintar bertenaga Google Gemini API yang siap menjawab pertanyaan pengunjung 24/7.</a:t>
            </a:r>
          </a:p>
          <a:p>
            <a:pPr>
              <a:spcAft>
                <a:spcPts val="600"/>
              </a:spcAft>
              <a:defRPr sz="1000">
                <a:solidFill>
                  <a:srgbClr val="A0AEC0"/>
                </a:solidFill>
              </a:defRPr>
            </a:pPr>
            <a:r>
              <a:t>• Menjawab instan pertanyaan seputar keahlian, riwayat karier, dan proyek unggulan.</a:t>
            </a:r>
          </a:p>
          <a:p>
            <a:pPr>
              <a:spcAft>
                <a:spcPts val="600"/>
              </a:spcAft>
              <a:defRPr sz="1000">
                <a:solidFill>
                  <a:srgbClr val="A0AEC0"/>
                </a:solidFill>
              </a:defRPr>
            </a:pPr>
            <a:r>
              <a:t>• Terintegrasi streaming text response langsung via Vercel Edge Runtime.</a:t>
            </a:r>
          </a:p>
          <a:p>
            <a:pPr>
              <a:spcAft>
                <a:spcPts val="600"/>
              </a:spcAft>
              <a:defRPr sz="1000">
                <a:solidFill>
                  <a:srgbClr val="A0AEC0"/>
                </a:solidFill>
              </a:defRPr>
            </a:pPr>
            <a:r>
              <a:t>• Didukung basis data pengetahuan terstruktur (knowledge base) portofolio.</a:t>
            </a:r>
          </a:p>
          <a:p>
            <a:pPr>
              <a:spcAft>
                <a:spcPts val="600"/>
              </a:spcAft>
              <a:defRPr sz="1000">
                <a:solidFill>
                  <a:srgbClr val="A0AEC0"/>
                </a:solidFill>
              </a:defRPr>
            </a:pPr>
            <a:r>
              <a:t>• Fallback mode berbasis template lokal responsif saat offline.</a:t>
            </a:r>
          </a:p>
        </p:txBody>
      </p:sp>
      <p:sp>
        <p:nvSpPr>
          <p:cNvPr id="7" name="Rounded Rectangle 6"/>
          <p:cNvSpPr/>
          <p:nvPr/>
        </p:nvSpPr>
        <p:spPr>
          <a:xfrm>
            <a:off x="4434840" y="1645920"/>
            <a:ext cx="342900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1828800"/>
            <a:ext cx="2971800" cy="4297680"/>
          </a:xfrm>
          <a:prstGeom prst="rect">
            <a:avLst/>
          </a:prstGeom>
          <a:noFill/>
        </p:spPr>
        <p:txBody>
          <a:bodyPr wrap="square" lIns="0" tIns="0" rIns="0" bIns="0">
            <a:spAutoFit/>
          </a:bodyPr>
          <a:lstStyle/>
          <a:p>
            <a:pPr>
              <a:defRPr sz="1000" b="1">
                <a:solidFill>
                  <a:srgbClr val="38BDF8"/>
                </a:solidFill>
              </a:defRPr>
            </a:pPr>
            <a:r>
              <a:t>PILAR 02</a:t>
            </a:r>
          </a:p>
          <a:p>
            <a:pPr>
              <a:spcAft>
                <a:spcPts val="400"/>
              </a:spcAft>
              <a:defRPr sz="1700" b="1">
                <a:solidFill>
                  <a:srgbClr val="FFFFFF"/>
                </a:solidFill>
              </a:defRPr>
            </a:pPr>
            <a:r>
              <a:t>3D Canvas &amp; WebGL Experience</a:t>
            </a:r>
          </a:p>
          <a:p>
            <a:pPr>
              <a:spcAft>
                <a:spcPts val="1200"/>
              </a:spcAft>
              <a:defRPr sz="1050">
                <a:solidFill>
                  <a:srgbClr val="CBD5E1"/>
                </a:solidFill>
              </a:defRPr>
            </a:pPr>
            <a:r>
              <a:t>Elemen interaktif visual berbasis fisika 3D dan momentum micro-interactions.</a:t>
            </a:r>
          </a:p>
          <a:p>
            <a:pPr>
              <a:spcAft>
                <a:spcPts val="600"/>
              </a:spcAft>
              <a:defRPr sz="1000">
                <a:solidFill>
                  <a:srgbClr val="A0AEC0"/>
                </a:solidFill>
              </a:defRPr>
            </a:pPr>
            <a:r>
              <a:t>• Interactive 3D Lanyard ID Card (React Three Fiber) dengan drag fisika realistis.</a:t>
            </a:r>
          </a:p>
          <a:p>
            <a:pPr>
              <a:spcAft>
                <a:spcPts val="600"/>
              </a:spcAft>
              <a:defRPr sz="1000">
                <a:solidFill>
                  <a:srgbClr val="A0AEC0"/>
                </a:solidFill>
              </a:defRPr>
            </a:pPr>
            <a:r>
              <a:t>• Hero background &lt;ShapeGrid /&gt; (React Bits) dengan 3D tilt &amp; cursor waves.</a:t>
            </a:r>
          </a:p>
          <a:p>
            <a:pPr>
              <a:spcAft>
                <a:spcPts val="600"/>
              </a:spcAft>
              <a:defRPr sz="1000">
                <a:solidFill>
                  <a:srgbClr val="A0AEC0"/>
                </a:solidFill>
              </a:defRPr>
            </a:pPr>
            <a:r>
              <a:t>• Bola kristal dinamis 3D Crystalized Ball (OGL/WebGL) pada halaman AI Assistant.</a:t>
            </a:r>
          </a:p>
          <a:p>
            <a:pPr>
              <a:spcAft>
                <a:spcPts val="600"/>
              </a:spcAft>
              <a:defRPr sz="1000">
                <a:solidFill>
                  <a:srgbClr val="A0AEC0"/>
                </a:solidFill>
              </a:defRPr>
            </a:pPr>
            <a:r>
              <a:t>• Galeri 3D DriftWall dengan perspective momentum dan parallax smooth.</a:t>
            </a:r>
          </a:p>
        </p:txBody>
      </p:sp>
      <p:sp>
        <p:nvSpPr>
          <p:cNvPr id="9" name="Rounded Rectangle 8"/>
          <p:cNvSpPr/>
          <p:nvPr/>
        </p:nvSpPr>
        <p:spPr>
          <a:xfrm>
            <a:off x="8138160" y="1645920"/>
            <a:ext cx="342900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60" y="1828800"/>
            <a:ext cx="2971800" cy="4297680"/>
          </a:xfrm>
          <a:prstGeom prst="rect">
            <a:avLst/>
          </a:prstGeom>
          <a:noFill/>
        </p:spPr>
        <p:txBody>
          <a:bodyPr wrap="square" lIns="0" tIns="0" rIns="0" bIns="0">
            <a:spAutoFit/>
          </a:bodyPr>
          <a:lstStyle/>
          <a:p>
            <a:pPr>
              <a:defRPr sz="1000" b="1">
                <a:solidFill>
                  <a:srgbClr val="34D399"/>
                </a:solidFill>
              </a:defRPr>
            </a:pPr>
            <a:r>
              <a:t>PILAR 03</a:t>
            </a:r>
          </a:p>
          <a:p>
            <a:pPr>
              <a:spcAft>
                <a:spcPts val="400"/>
              </a:spcAft>
              <a:defRPr sz="1700" b="1">
                <a:solidFill>
                  <a:srgbClr val="FFFFFF"/>
                </a:solidFill>
              </a:defRPr>
            </a:pPr>
            <a:r>
              <a:t>Production Engineering Quality</a:t>
            </a:r>
          </a:p>
          <a:p>
            <a:pPr>
              <a:spcAft>
                <a:spcPts val="1200"/>
              </a:spcAft>
              <a:defRPr sz="1050">
                <a:solidFill>
                  <a:srgbClr val="CBD5E1"/>
                </a:solidFill>
              </a:defRPr>
            </a:pPr>
            <a:r>
              <a:t>Arsitektur kode bersih, performa tinggi, aksesibilitas, dan SEO modern.</a:t>
            </a:r>
          </a:p>
          <a:p>
            <a:pPr>
              <a:spcAft>
                <a:spcPts val="600"/>
              </a:spcAft>
              <a:defRPr sz="1000">
                <a:solidFill>
                  <a:srgbClr val="A0AEC0"/>
                </a:solidFill>
              </a:defRPr>
            </a:pPr>
            <a:r>
              <a:t>• Bilingual Localization (ID &amp; EN) berpindah bahasa seketika tanpa reload.</a:t>
            </a:r>
          </a:p>
          <a:p>
            <a:pPr>
              <a:spcAft>
                <a:spcPts val="600"/>
              </a:spcAft>
              <a:defRPr sz="1000">
                <a:solidFill>
                  <a:srgbClr val="A0AEC0"/>
                </a:solidFill>
              </a:defRPr>
            </a:pPr>
            <a:r>
              <a:t>• Dark &amp; Light Mode adaptif dengan ambient glow orbs elegan.</a:t>
            </a:r>
          </a:p>
          <a:p>
            <a:pPr>
              <a:spcAft>
                <a:spcPts val="600"/>
              </a:spcAft>
              <a:defRPr sz="1000">
                <a:solidFill>
                  <a:srgbClr val="A0AEC0"/>
                </a:solidFill>
              </a:defRPr>
            </a:pPr>
            <a:r>
              <a:t>• Full SEO Readiness: Sitemap.xml, robots.txt, OpenGraph, &amp; Google Site Verification.</a:t>
            </a:r>
          </a:p>
          <a:p>
            <a:pPr>
              <a:spcAft>
                <a:spcPts val="600"/>
              </a:spcAft>
              <a:defRPr sz="1000">
                <a:solidFill>
                  <a:srgbClr val="A0AEC0"/>
                </a:solidFill>
              </a:defRPr>
            </a:pPr>
            <a:r>
              <a:t>• Optimalisasi aset WebP berukuran ringan untuk First Load JS super cepat.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38BDF8"/>
                </a:solidFill>
              </a:defRPr>
            </a:pPr>
            <a:r>
              <a:t>ARSITEKTUR SISTEM</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Lapisan Teknologi &amp; Komponen Pendukung Portofolio</a:t>
            </a:r>
          </a:p>
        </p:txBody>
      </p:sp>
      <p:sp>
        <p:nvSpPr>
          <p:cNvPr id="5" name="Rounded Rectangle 4"/>
          <p:cNvSpPr/>
          <p:nvPr/>
        </p:nvSpPr>
        <p:spPr>
          <a:xfrm>
            <a:off x="731520" y="1645920"/>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10149840" cy="868680"/>
          </a:xfrm>
          <a:prstGeom prst="rect">
            <a:avLst/>
          </a:prstGeom>
          <a:noFill/>
        </p:spPr>
        <p:txBody>
          <a:bodyPr wrap="square" lIns="0" tIns="0" rIns="0" bIns="0">
            <a:spAutoFit/>
          </a:bodyPr>
          <a:lstStyle/>
          <a:p>
            <a:pPr>
              <a:defRPr sz="1000" b="1">
                <a:solidFill>
                  <a:srgbClr val="38BDF8"/>
                </a:solidFill>
              </a:defRPr>
            </a:pPr>
            <a:r>
              <a:t>1. FRONTEND CORE &amp; ROUTING</a:t>
            </a:r>
          </a:p>
          <a:p>
            <a:pPr>
              <a:spcAft>
                <a:spcPts val="200"/>
              </a:spcAft>
              <a:defRPr sz="1300" b="1">
                <a:solidFill>
                  <a:srgbClr val="FFFFFF"/>
                </a:solidFill>
              </a:defRPr>
            </a:pPr>
            <a:r>
              <a:t>Next.js 13+ App Router, React 18, TypeScript, Tailwind CSS</a:t>
            </a:r>
          </a:p>
          <a:p>
            <a:pPr>
              <a:defRPr sz="1050">
                <a:solidFill>
                  <a:srgbClr val="A0AEC0"/>
                </a:solidFill>
              </a:defRPr>
            </a:pPr>
            <a:r>
              <a:t>Arsitektur berbasis komponen modular, server-side streaming, static page generation, dan zero-layout-shift routing.</a:t>
            </a:r>
          </a:p>
        </p:txBody>
      </p:sp>
      <p:sp>
        <p:nvSpPr>
          <p:cNvPr id="7" name="Rounded Rectangle 6"/>
          <p:cNvSpPr/>
          <p:nvPr/>
        </p:nvSpPr>
        <p:spPr>
          <a:xfrm>
            <a:off x="731520" y="2816352"/>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926080"/>
            <a:ext cx="10149840" cy="868680"/>
          </a:xfrm>
          <a:prstGeom prst="rect">
            <a:avLst/>
          </a:prstGeom>
          <a:noFill/>
        </p:spPr>
        <p:txBody>
          <a:bodyPr wrap="square" lIns="0" tIns="0" rIns="0" bIns="0">
            <a:spAutoFit/>
          </a:bodyPr>
          <a:lstStyle/>
          <a:p>
            <a:pPr>
              <a:defRPr sz="1000" b="1">
                <a:solidFill>
                  <a:srgbClr val="38BDF8"/>
                </a:solidFill>
              </a:defRPr>
            </a:pPr>
            <a:r>
              <a:t>2. CREATIVE 3D &amp; MOTION CANVAS</a:t>
            </a:r>
          </a:p>
          <a:p>
            <a:pPr>
              <a:spcAft>
                <a:spcPts val="200"/>
              </a:spcAft>
              <a:defRPr sz="1300" b="1">
                <a:solidFill>
                  <a:srgbClr val="FFFFFF"/>
                </a:solidFill>
              </a:defRPr>
            </a:pPr>
            <a:r>
              <a:t>React Three Fiber (R3F), Three.js, OGL (WebGL), Framer Motion, GSAP</a:t>
            </a:r>
          </a:p>
          <a:p>
            <a:pPr>
              <a:defRPr sz="1050">
                <a:solidFill>
                  <a:srgbClr val="A0AEC0"/>
                </a:solidFill>
              </a:defRPr>
            </a:pPr>
            <a:r>
              <a:t>Merender simulasi fisika lanyard kartu tanda pengenal, bola kristal terpolarisasi, dan animasi teks kinetik 60 FPS.</a:t>
            </a:r>
          </a:p>
        </p:txBody>
      </p:sp>
      <p:sp>
        <p:nvSpPr>
          <p:cNvPr id="9" name="Rounded Rectangle 8"/>
          <p:cNvSpPr/>
          <p:nvPr/>
        </p:nvSpPr>
        <p:spPr>
          <a:xfrm>
            <a:off x="731520" y="3986784"/>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96512"/>
            <a:ext cx="10149840" cy="868680"/>
          </a:xfrm>
          <a:prstGeom prst="rect">
            <a:avLst/>
          </a:prstGeom>
          <a:noFill/>
        </p:spPr>
        <p:txBody>
          <a:bodyPr wrap="square" lIns="0" tIns="0" rIns="0" bIns="0">
            <a:spAutoFit/>
          </a:bodyPr>
          <a:lstStyle/>
          <a:p>
            <a:pPr>
              <a:defRPr sz="1000" b="1">
                <a:solidFill>
                  <a:srgbClr val="38BDF8"/>
                </a:solidFill>
              </a:defRPr>
            </a:pPr>
            <a:r>
              <a:t>3. CONVERSATIONAL AI &amp; EDGE BACKEND</a:t>
            </a:r>
          </a:p>
          <a:p>
            <a:pPr>
              <a:spcAft>
                <a:spcPts val="200"/>
              </a:spcAft>
              <a:defRPr sz="1300" b="1">
                <a:solidFill>
                  <a:srgbClr val="FFFFFF"/>
                </a:solidFill>
              </a:defRPr>
            </a:pPr>
            <a:r>
              <a:t>Google Gemini API (@google/generative-ai), Vercel Edge Runtime, Server Actions</a:t>
            </a:r>
          </a:p>
          <a:p>
            <a:pPr>
              <a:defRPr sz="1050">
                <a:solidFill>
                  <a:srgbClr val="A0AEC0"/>
                </a:solidFill>
              </a:defRPr>
            </a:pPr>
            <a:r>
              <a:t>Endpoint streaming latensi ultra rendah (/api/chat) yang menyatukan prompt engineering komprehensif dan model fallback.</a:t>
            </a:r>
          </a:p>
        </p:txBody>
      </p:sp>
      <p:sp>
        <p:nvSpPr>
          <p:cNvPr id="11" name="Rounded Rectangle 10"/>
          <p:cNvSpPr/>
          <p:nvPr/>
        </p:nvSpPr>
        <p:spPr>
          <a:xfrm>
            <a:off x="731520" y="5157216"/>
            <a:ext cx="10725912" cy="105156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266944"/>
            <a:ext cx="10149840" cy="868680"/>
          </a:xfrm>
          <a:prstGeom prst="rect">
            <a:avLst/>
          </a:prstGeom>
          <a:noFill/>
        </p:spPr>
        <p:txBody>
          <a:bodyPr wrap="square" lIns="0" tIns="0" rIns="0" bIns="0">
            <a:spAutoFit/>
          </a:bodyPr>
          <a:lstStyle/>
          <a:p>
            <a:pPr>
              <a:defRPr sz="1000" b="1">
                <a:solidFill>
                  <a:srgbClr val="38BDF8"/>
                </a:solidFill>
              </a:defRPr>
            </a:pPr>
            <a:r>
              <a:t>4. CONTEXT &amp; USER EXPERIENCE LAYER</a:t>
            </a:r>
          </a:p>
          <a:p>
            <a:pPr>
              <a:spcAft>
                <a:spcPts val="200"/>
              </a:spcAft>
              <a:defRPr sz="1300" b="1">
                <a:solidFill>
                  <a:srgbClr val="FFFFFF"/>
                </a:solidFill>
              </a:defRPr>
            </a:pPr>
            <a:r>
              <a:t>LanguageContext (ID/EN), ThemeContext (Dark/Light), SoundEffectsProvider</a:t>
            </a:r>
          </a:p>
          <a:p>
            <a:pPr>
              <a:defRPr sz="1050">
                <a:solidFill>
                  <a:srgbClr val="A0AEC0"/>
                </a:solidFill>
              </a:defRPr>
            </a:pPr>
            <a:r>
              <a:t>Manajemen state global tanpa reload, audio taktil klik tombol, preview CV instan dalam modal, dan ambient lighting.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A855F7"/>
                </a:solidFill>
              </a:defRPr>
            </a:pPr>
            <a:r>
              <a:t>SOROTAN UTAMA</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AI Assistant: Agen Percakapan Portofolio Interaktif (/ai-assistant)</a:t>
            </a:r>
          </a:p>
        </p:txBody>
      </p:sp>
      <p:sp>
        <p:nvSpPr>
          <p:cNvPr id="5" name="Rounded Rectangle 4"/>
          <p:cNvSpPr/>
          <p:nvPr/>
        </p:nvSpPr>
        <p:spPr>
          <a:xfrm>
            <a:off x="731520" y="1645920"/>
            <a:ext cx="621792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5669280" cy="4297680"/>
          </a:xfrm>
          <a:prstGeom prst="rect">
            <a:avLst/>
          </a:prstGeom>
          <a:noFill/>
        </p:spPr>
        <p:txBody>
          <a:bodyPr wrap="square" lIns="0" tIns="0" rIns="0" bIns="0">
            <a:spAutoFit/>
          </a:bodyPr>
          <a:lstStyle/>
          <a:p>
            <a:pPr>
              <a:defRPr sz="1100" b="1">
                <a:solidFill>
                  <a:srgbClr val="A855F7"/>
                </a:solidFill>
              </a:defRPr>
            </a:pPr>
            <a:r>
              <a:t>MENGAPA AI ASSISTANT REVOLUSIONER UNTUK PORTOFOLIO?</a:t>
            </a:r>
          </a:p>
          <a:p>
            <a:pPr>
              <a:spcAft>
                <a:spcPts val="1000"/>
              </a:spcAft>
              <a:defRPr sz="1100">
                <a:solidFill>
                  <a:srgbClr val="CBD5E1"/>
                </a:solidFill>
              </a:defRPr>
            </a:pPr>
            <a:r>
              <a:t>Biasanya pengunjung atau perekrut harus menelusuri halaman web satu per satu untuk mencari informasi spesifik. AI Assistant mengubah paradigma ini: pengunjung cukup 'mengobrol' langsung dengan representasi digital Faliqul Ishbah. Asisten dapat merangkum proyek, menjelaskan tech stack, hingga membandingkan kecocokan skill dengan kualifikasi pekerjaan.</a:t>
            </a:r>
          </a:p>
          <a:p>
            <a:pPr>
              <a:defRPr sz="1100" b="1">
                <a:solidFill>
                  <a:srgbClr val="34D399"/>
                </a:solidFill>
              </a:defRPr>
            </a:pPr>
            <a:r>
              <a:t>FITUR KUNCI ASISTEN</a:t>
            </a:r>
          </a:p>
          <a:p>
            <a:pPr>
              <a:spcAft>
                <a:spcPts val="400"/>
              </a:spcAft>
              <a:defRPr sz="1000">
                <a:solidFill>
                  <a:srgbClr val="A0AEC0"/>
                </a:solidFill>
              </a:defRPr>
            </a:pPr>
            <a:r>
              <a:t>✔  Knowledge-Grounded Accuracy: Menjawab akurat berdasarkan fakta data portofolio resmi tanpa mengarang bebas.</a:t>
            </a:r>
          </a:p>
          <a:p>
            <a:pPr>
              <a:spcAft>
                <a:spcPts val="400"/>
              </a:spcAft>
              <a:defRPr sz="1000">
                <a:solidFill>
                  <a:srgbClr val="A0AEC0"/>
                </a:solidFill>
              </a:defRPr>
            </a:pPr>
            <a:r>
              <a:t>✔  Streaming Response Cepat: Efek mengetik huruf per huruf (streaming) menghasilkan waktu tunggu respon nol detik.</a:t>
            </a:r>
          </a:p>
          <a:p>
            <a:pPr>
              <a:spcAft>
                <a:spcPts val="400"/>
              </a:spcAft>
              <a:defRPr sz="1000">
                <a:solidFill>
                  <a:srgbClr val="A0AEC0"/>
                </a:solidFill>
              </a:defRPr>
            </a:pPr>
            <a:r>
              <a:t>✔  Quick Prompt Pills: Pertanyaan rekomendasi instan dalam 2 bahasa (Keahlian, Proyek, Pengalaman AI, Tech Stack).</a:t>
            </a:r>
          </a:p>
          <a:p>
            <a:pPr>
              <a:spcAft>
                <a:spcPts val="400"/>
              </a:spcAft>
              <a:defRPr sz="1000">
                <a:solidFill>
                  <a:srgbClr val="A0AEC0"/>
                </a:solidFill>
              </a:defRPr>
            </a:pPr>
            <a:r>
              <a:t>✔  Privacy by Design: Percakapan berjalan murni in-memory tanpa penyimpanan database, menjaga privasi pengunjung.</a:t>
            </a:r>
          </a:p>
          <a:p>
            <a:pPr>
              <a:spcAft>
                <a:spcPts val="400"/>
              </a:spcAft>
              <a:defRPr sz="1000">
                <a:solidFill>
                  <a:srgbClr val="A0AEC0"/>
                </a:solidFill>
              </a:defRPr>
            </a:pPr>
            <a:r>
              <a:t>✔  Interactive PromptBar: Dilengkapi pemilih model (Gemini Flash/Pro), shortcut perintah (/projects, /skills), dan tombol reset.</a:t>
            </a:r>
          </a:p>
        </p:txBody>
      </p:sp>
      <p:sp>
        <p:nvSpPr>
          <p:cNvPr id="7" name="Rounded Rectangle 6"/>
          <p:cNvSpPr/>
          <p:nvPr/>
        </p:nvSpPr>
        <p:spPr>
          <a:xfrm>
            <a:off x="7223760" y="1645920"/>
            <a:ext cx="420624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06640" y="2011680"/>
            <a:ext cx="3840480" cy="2064422"/>
          </a:xfrm>
          <a:prstGeom prst="rect">
            <a:avLst/>
          </a:prstGeom>
        </p:spPr>
      </p:pic>
      <p:sp>
        <p:nvSpPr>
          <p:cNvPr id="9" name="TextBox 8"/>
          <p:cNvSpPr txBox="1"/>
          <p:nvPr/>
        </p:nvSpPr>
        <p:spPr>
          <a:xfrm>
            <a:off x="7406640" y="5303520"/>
            <a:ext cx="3840480" cy="914400"/>
          </a:xfrm>
          <a:prstGeom prst="rect">
            <a:avLst/>
          </a:prstGeom>
          <a:noFill/>
        </p:spPr>
        <p:txBody>
          <a:bodyPr wrap="square">
            <a:spAutoFit/>
          </a:bodyPr>
          <a:lstStyle/>
          <a:p>
            <a:pPr algn="ctr">
              <a:defRPr sz="1100" b="1">
                <a:solidFill>
                  <a:srgbClr val="FFFFFF"/>
                </a:solidFill>
              </a:defRPr>
            </a:pPr>
            <a:r>
              <a:t>Tampilan Ekosistem Portofolio Digital Faliqul Ishbah</a:t>
            </a:r>
          </a:p>
          <a:p>
            <a:pPr algn="ctr">
              <a:defRPr sz="950">
                <a:solidFill>
                  <a:srgbClr val="A0AEC0"/>
                </a:solidFill>
              </a:defRPr>
            </a:pPr>
            <a:r>
              <a:t>Didukung AI Assistant cerdas &amp; visual interaktif modern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A855F7"/>
                </a:solidFill>
              </a:defRPr>
            </a:pPr>
            <a:r>
              <a:t>SOROTAN UTAMA</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Arsitektur Teknis &amp; Pipeline Streaming AI (/api/chat)</a:t>
            </a:r>
          </a:p>
        </p:txBody>
      </p:sp>
      <p:sp>
        <p:nvSpPr>
          <p:cNvPr id="5" name="Rounded Rectangle 4"/>
          <p:cNvSpPr/>
          <p:nvPr/>
        </p:nvSpPr>
        <p:spPr>
          <a:xfrm>
            <a:off x="731520"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176272" cy="4297680"/>
          </a:xfrm>
          <a:prstGeom prst="rect">
            <a:avLst/>
          </a:prstGeom>
          <a:noFill/>
        </p:spPr>
        <p:txBody>
          <a:bodyPr wrap="square" lIns="0" tIns="0" rIns="0" bIns="0">
            <a:spAutoFit/>
          </a:bodyPr>
          <a:lstStyle/>
          <a:p>
            <a:pPr>
              <a:defRPr sz="2800" b="1">
                <a:solidFill>
                  <a:srgbClr val="A855F7"/>
                </a:solidFill>
              </a:defRPr>
            </a:pPr>
            <a:r>
              <a:t>01</a:t>
            </a:r>
          </a:p>
          <a:p>
            <a:pPr>
              <a:spcAft>
                <a:spcPts val="1200"/>
              </a:spcAft>
              <a:defRPr sz="1400" b="1">
                <a:solidFill>
                  <a:srgbClr val="FFFFFF"/>
                </a:solidFill>
              </a:defRPr>
            </a:pPr>
            <a:r>
              <a:t>Vercel Edge Runtime</a:t>
            </a:r>
          </a:p>
          <a:p>
            <a:pPr>
              <a:spcAft>
                <a:spcPts val="800"/>
              </a:spcAft>
              <a:defRPr sz="1000">
                <a:solidFill>
                  <a:srgbClr val="CBD5E1"/>
                </a:solidFill>
              </a:defRPr>
            </a:pPr>
            <a:r>
              <a:t>• Dieksekusi pada jaringan Edge dengan latensi terendah di seluruh dunia.</a:t>
            </a:r>
          </a:p>
          <a:p>
            <a:pPr>
              <a:spcAft>
                <a:spcPts val="800"/>
              </a:spcAft>
              <a:defRPr sz="1000">
                <a:solidFill>
                  <a:srgbClr val="CBD5E1"/>
                </a:solidFill>
              </a:defRPr>
            </a:pPr>
            <a:r>
              <a:t>• Menggunakan standar Web API (ReadableStream &amp; TextEncoder) tanpa dependensi Node berat.</a:t>
            </a:r>
          </a:p>
        </p:txBody>
      </p:sp>
      <p:sp>
        <p:nvSpPr>
          <p:cNvPr id="7" name="Rounded Rectangle 6"/>
          <p:cNvSpPr/>
          <p:nvPr/>
        </p:nvSpPr>
        <p:spPr>
          <a:xfrm>
            <a:off x="3456432"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1828800"/>
            <a:ext cx="2176272" cy="4297680"/>
          </a:xfrm>
          <a:prstGeom prst="rect">
            <a:avLst/>
          </a:prstGeom>
          <a:noFill/>
        </p:spPr>
        <p:txBody>
          <a:bodyPr wrap="square" lIns="0" tIns="0" rIns="0" bIns="0">
            <a:spAutoFit/>
          </a:bodyPr>
          <a:lstStyle/>
          <a:p>
            <a:pPr>
              <a:defRPr sz="2800" b="1">
                <a:solidFill>
                  <a:srgbClr val="A855F7"/>
                </a:solidFill>
              </a:defRPr>
            </a:pPr>
            <a:r>
              <a:t>02</a:t>
            </a:r>
          </a:p>
          <a:p>
            <a:pPr>
              <a:spcAft>
                <a:spcPts val="1200"/>
              </a:spcAft>
              <a:defRPr sz="1400" b="1">
                <a:solidFill>
                  <a:srgbClr val="FFFFFF"/>
                </a:solidFill>
              </a:defRPr>
            </a:pPr>
            <a:r>
              <a:t>Context &amp; Knowledge Base</a:t>
            </a:r>
          </a:p>
          <a:p>
            <a:pPr>
              <a:spcAft>
                <a:spcPts val="800"/>
              </a:spcAft>
              <a:defRPr sz="1000">
                <a:solidFill>
                  <a:srgbClr val="CBD5E1"/>
                </a:solidFill>
              </a:defRPr>
            </a:pPr>
            <a:r>
              <a:t>• Fungsi buildChatSystemPrompt() mengompilasi biodata, riwayat pendidikan, proyek, skill, dan sertifikasi.</a:t>
            </a:r>
          </a:p>
          <a:p>
            <a:pPr>
              <a:spcAft>
                <a:spcPts val="800"/>
              </a:spcAft>
              <a:defRPr sz="1000">
                <a:solidFill>
                  <a:srgbClr val="CBD5E1"/>
                </a:solidFill>
              </a:defRPr>
            </a:pPr>
            <a:r>
              <a:t>• Aturan ketat (guardrails): persona ramah, profesional, dan melarang halusinasi data.</a:t>
            </a:r>
          </a:p>
        </p:txBody>
      </p:sp>
      <p:sp>
        <p:nvSpPr>
          <p:cNvPr id="9" name="Rounded Rectangle 8"/>
          <p:cNvSpPr/>
          <p:nvPr/>
        </p:nvSpPr>
        <p:spPr>
          <a:xfrm>
            <a:off x="6181344"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828800"/>
            <a:ext cx="2176272" cy="4297680"/>
          </a:xfrm>
          <a:prstGeom prst="rect">
            <a:avLst/>
          </a:prstGeom>
          <a:noFill/>
        </p:spPr>
        <p:txBody>
          <a:bodyPr wrap="square" lIns="0" tIns="0" rIns="0" bIns="0">
            <a:spAutoFit/>
          </a:bodyPr>
          <a:lstStyle/>
          <a:p>
            <a:pPr>
              <a:defRPr sz="2800" b="1">
                <a:solidFill>
                  <a:srgbClr val="A855F7"/>
                </a:solidFill>
              </a:defRPr>
            </a:pPr>
            <a:r>
              <a:t>03</a:t>
            </a:r>
          </a:p>
          <a:p>
            <a:pPr>
              <a:spcAft>
                <a:spcPts val="1200"/>
              </a:spcAft>
              <a:defRPr sz="1400" b="1">
                <a:solidFill>
                  <a:srgbClr val="FFFFFF"/>
                </a:solidFill>
              </a:defRPr>
            </a:pPr>
            <a:r>
              <a:t>Google Gemini Multi-Model</a:t>
            </a:r>
          </a:p>
          <a:p>
            <a:pPr>
              <a:spcAft>
                <a:spcPts val="800"/>
              </a:spcAft>
              <a:defRPr sz="1000">
                <a:solidFill>
                  <a:srgbClr val="CBD5E1"/>
                </a:solidFill>
              </a:defRPr>
            </a:pPr>
            <a:r>
              <a:t>• Terhubung ke Google Generative AI SDK (@google/generative-ai).</a:t>
            </a:r>
          </a:p>
          <a:p>
            <a:pPr>
              <a:spcAft>
                <a:spcPts val="800"/>
              </a:spcAft>
              <a:defRPr sz="1000">
                <a:solidFill>
                  <a:srgbClr val="CBD5E1"/>
                </a:solidFill>
              </a:defRPr>
            </a:pPr>
            <a:r>
              <a:t>• Loop failover otomatis mencoba model Gemini 2.0 Flash -&gt; 1.5 Flash -&gt; 1.5 Pro jika terjadi limit.</a:t>
            </a:r>
          </a:p>
        </p:txBody>
      </p:sp>
      <p:sp>
        <p:nvSpPr>
          <p:cNvPr id="11" name="Rounded Rectangle 10"/>
          <p:cNvSpPr/>
          <p:nvPr/>
        </p:nvSpPr>
        <p:spPr>
          <a:xfrm>
            <a:off x="8906256"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89136" y="1828800"/>
            <a:ext cx="2176272" cy="4297680"/>
          </a:xfrm>
          <a:prstGeom prst="rect">
            <a:avLst/>
          </a:prstGeom>
          <a:noFill/>
        </p:spPr>
        <p:txBody>
          <a:bodyPr wrap="square" lIns="0" tIns="0" rIns="0" bIns="0">
            <a:spAutoFit/>
          </a:bodyPr>
          <a:lstStyle/>
          <a:p>
            <a:pPr>
              <a:defRPr sz="2800" b="1">
                <a:solidFill>
                  <a:srgbClr val="A855F7"/>
                </a:solidFill>
              </a:defRPr>
            </a:pPr>
            <a:r>
              <a:t>04</a:t>
            </a:r>
          </a:p>
          <a:p>
            <a:pPr>
              <a:spcAft>
                <a:spcPts val="1200"/>
              </a:spcAft>
              <a:defRPr sz="1400" b="1">
                <a:solidFill>
                  <a:srgbClr val="FFFFFF"/>
                </a:solidFill>
              </a:defRPr>
            </a:pPr>
            <a:r>
              <a:t>Rate Limit &amp; Proteksi Abuse</a:t>
            </a:r>
          </a:p>
          <a:p>
            <a:pPr>
              <a:spcAft>
                <a:spcPts val="800"/>
              </a:spcAft>
              <a:defRPr sz="1000">
                <a:solidFill>
                  <a:srgbClr val="CBD5E1"/>
                </a:solidFill>
              </a:defRPr>
            </a:pPr>
            <a:r>
              <a:t>• Sliding-window in-memory rate limiter membatasi 15 permintaan per menit per alamat IP.</a:t>
            </a:r>
          </a:p>
          <a:p>
            <a:pPr>
              <a:spcAft>
                <a:spcPts val="800"/>
              </a:spcAft>
              <a:defRPr sz="1000">
                <a:solidFill>
                  <a:srgbClr val="CBD5E1"/>
                </a:solidFill>
              </a:defRPr>
            </a:pPr>
            <a:r>
              <a:t>• Mencegah spam bot, lonjakan biaya token, dan menjaga stabilitas kuota gratis.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A855F7"/>
                </a:solidFill>
              </a:defRPr>
            </a:pPr>
            <a:r>
              <a:t>SOROTAN UTAMA</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Desain Antarmuka AI: PromptBar, 3D Ball &amp; Smart Fallback</a:t>
            </a:r>
          </a:p>
        </p:txBody>
      </p:sp>
      <p:sp>
        <p:nvSpPr>
          <p:cNvPr id="5" name="Rounded Rectangle 4"/>
          <p:cNvSpPr/>
          <p:nvPr/>
        </p:nvSpPr>
        <p:spPr>
          <a:xfrm>
            <a:off x="731520" y="1645920"/>
            <a:ext cx="5257800" cy="210312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800600" cy="1737360"/>
          </a:xfrm>
          <a:prstGeom prst="rect">
            <a:avLst/>
          </a:prstGeom>
          <a:noFill/>
        </p:spPr>
        <p:txBody>
          <a:bodyPr wrap="square" lIns="0" tIns="0" rIns="0" bIns="0">
            <a:spAutoFit/>
          </a:bodyPr>
          <a:lstStyle/>
          <a:p>
            <a:pPr>
              <a:spcAft>
                <a:spcPts val="400"/>
              </a:spcAft>
              <a:defRPr sz="1000" b="1">
                <a:solidFill>
                  <a:srgbClr val="A855F7"/>
                </a:solidFill>
              </a:defRPr>
            </a:pPr>
            <a:r>
              <a:t>KOMPONEN 1: PROMPTBAR INTERAKTIF</a:t>
            </a:r>
          </a:p>
          <a:p>
            <a:pPr>
              <a:spcAft>
                <a:spcPts val="600"/>
              </a:spcAft>
              <a:defRPr sz="1300" b="1">
                <a:solidFill>
                  <a:srgbClr val="FFFFFF"/>
                </a:solidFill>
              </a:defRPr>
            </a:pPr>
            <a:r>
              <a:t>Smart Action Toolbar &amp; Model Switcher</a:t>
            </a:r>
          </a:p>
          <a:p>
            <a:pPr>
              <a:defRPr sz="1050">
                <a:solidFill>
                  <a:srgbClr val="CBD5E1"/>
                </a:solidFill>
              </a:defRPr>
            </a:pPr>
            <a:r>
              <a:t>Input chat modern dengan dukungan pemilih model (Gemini Flash / Pro), indikator busy animasi framer-motion, dan menu slash commands (/projects, /skills, /contact, /experience).</a:t>
            </a:r>
          </a:p>
        </p:txBody>
      </p:sp>
      <p:sp>
        <p:nvSpPr>
          <p:cNvPr id="7" name="Rounded Rectangle 6"/>
          <p:cNvSpPr/>
          <p:nvPr/>
        </p:nvSpPr>
        <p:spPr>
          <a:xfrm>
            <a:off x="6172200" y="1645920"/>
            <a:ext cx="5257800" cy="210312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00600" cy="1737360"/>
          </a:xfrm>
          <a:prstGeom prst="rect">
            <a:avLst/>
          </a:prstGeom>
          <a:noFill/>
        </p:spPr>
        <p:txBody>
          <a:bodyPr wrap="square" lIns="0" tIns="0" rIns="0" bIns="0">
            <a:spAutoFit/>
          </a:bodyPr>
          <a:lstStyle/>
          <a:p>
            <a:pPr>
              <a:spcAft>
                <a:spcPts val="400"/>
              </a:spcAft>
              <a:defRPr sz="1000" b="1">
                <a:solidFill>
                  <a:srgbClr val="A855F7"/>
                </a:solidFill>
              </a:defRPr>
            </a:pPr>
            <a:r>
              <a:t>KOMPONEN 2: 3D CRYSTALIZED BALL (WEBGL/OGL)</a:t>
            </a:r>
          </a:p>
          <a:p>
            <a:pPr>
              <a:spcAft>
                <a:spcPts val="600"/>
              </a:spcAft>
              <a:defRPr sz="1300" b="1">
                <a:solidFill>
                  <a:srgbClr val="FFFFFF"/>
                </a:solidFill>
              </a:defRPr>
            </a:pPr>
            <a:r>
              <a:t>Efek Visual Dinamis di Latar Belakang</a:t>
            </a:r>
          </a:p>
          <a:p>
            <a:pPr>
              <a:defRPr sz="1050">
                <a:solidFill>
                  <a:srgbClr val="CBD5E1"/>
                </a:solidFill>
              </a:defRPr>
            </a:pPr>
            <a:r>
              <a:t>Bola kristal 3D berputar dinamis yang dibangun dengan OGL WebGL, menghadirkan nuansa futuristik saat halaman AI Assistant pertama kali dibuka.</a:t>
            </a:r>
          </a:p>
        </p:txBody>
      </p:sp>
      <p:sp>
        <p:nvSpPr>
          <p:cNvPr id="9" name="Rounded Rectangle 8"/>
          <p:cNvSpPr/>
          <p:nvPr/>
        </p:nvSpPr>
        <p:spPr>
          <a:xfrm>
            <a:off x="731520" y="3931920"/>
            <a:ext cx="5257800" cy="210312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114800"/>
            <a:ext cx="4800600" cy="1737360"/>
          </a:xfrm>
          <a:prstGeom prst="rect">
            <a:avLst/>
          </a:prstGeom>
          <a:noFill/>
        </p:spPr>
        <p:txBody>
          <a:bodyPr wrap="square" lIns="0" tIns="0" rIns="0" bIns="0">
            <a:spAutoFit/>
          </a:bodyPr>
          <a:lstStyle/>
          <a:p>
            <a:pPr>
              <a:spcAft>
                <a:spcPts val="400"/>
              </a:spcAft>
              <a:defRPr sz="1000" b="1">
                <a:solidFill>
                  <a:srgbClr val="A855F7"/>
                </a:solidFill>
              </a:defRPr>
            </a:pPr>
            <a:r>
              <a:t>KOMPONEN 3: LOCAL TYPING SIMULATION FALLBACK</a:t>
            </a:r>
          </a:p>
          <a:p>
            <a:pPr>
              <a:spcAft>
                <a:spcPts val="600"/>
              </a:spcAft>
              <a:defRPr sz="1300" b="1">
                <a:solidFill>
                  <a:srgbClr val="FFFFFF"/>
                </a:solidFill>
              </a:defRPr>
            </a:pPr>
            <a:r>
              <a:t>Simulasi Respons Otomatis Tanpa Kuota API</a:t>
            </a:r>
          </a:p>
          <a:p>
            <a:pPr>
              <a:defRPr sz="1050">
                <a:solidFill>
                  <a:srgbClr val="CBD5E1"/>
                </a:solidFill>
              </a:defRPr>
            </a:pPr>
            <a:r>
              <a:t>Untuk pertanyaan template populer seputar ringkasan skill dan proyek terbaik, antarmuka menyediakan simulasi pengetikan asinkron lokal yang tetap berjalan meskipun kuota API sedang habis.</a:t>
            </a:r>
          </a:p>
        </p:txBody>
      </p:sp>
      <p:sp>
        <p:nvSpPr>
          <p:cNvPr id="11" name="Rounded Rectangle 10"/>
          <p:cNvSpPr/>
          <p:nvPr/>
        </p:nvSpPr>
        <p:spPr>
          <a:xfrm>
            <a:off x="6172200" y="3931920"/>
            <a:ext cx="5257800" cy="210312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114800"/>
            <a:ext cx="4800600" cy="1737360"/>
          </a:xfrm>
          <a:prstGeom prst="rect">
            <a:avLst/>
          </a:prstGeom>
          <a:noFill/>
        </p:spPr>
        <p:txBody>
          <a:bodyPr wrap="square" lIns="0" tIns="0" rIns="0" bIns="0">
            <a:spAutoFit/>
          </a:bodyPr>
          <a:lstStyle/>
          <a:p>
            <a:pPr>
              <a:spcAft>
                <a:spcPts val="400"/>
              </a:spcAft>
              <a:defRPr sz="1000" b="1">
                <a:solidFill>
                  <a:srgbClr val="A855F7"/>
                </a:solidFill>
              </a:defRPr>
            </a:pPr>
            <a:r>
              <a:t>KOMPONEN 4: DIALOG KONFIRMASI RESET SESI</a:t>
            </a:r>
          </a:p>
          <a:p>
            <a:pPr>
              <a:spcAft>
                <a:spcPts val="600"/>
              </a:spcAft>
              <a:defRPr sz="1300" b="1">
                <a:solidFill>
                  <a:srgbClr val="FFFFFF"/>
                </a:solidFill>
              </a:defRPr>
            </a:pPr>
            <a:r>
              <a:t>Kontrol Percakapan Penuh Pengguna</a:t>
            </a:r>
          </a:p>
          <a:p>
            <a:pPr>
              <a:defRPr sz="1050">
                <a:solidFill>
                  <a:srgbClr val="CBD5E1"/>
                </a:solidFill>
              </a:defRPr>
            </a:pPr>
            <a:r>
              <a:t>Pengguna dapat menghapus riwayat obrolan kapan saja melalui tombol tong sampah yang dilengkapi dialog modal konfirmasi (ClearChatDialog) yang aman dan rapi.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38BDF8"/>
                </a:solidFill>
              </a:defRPr>
            </a:pPr>
            <a:r>
              <a:t>FITUR UNGGULAN PORTOFOLIO</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Hero Section: Grid Perspektif 3D &amp; Tipografi Kinetik</a:t>
            </a:r>
          </a:p>
        </p:txBody>
      </p:sp>
      <p:sp>
        <p:nvSpPr>
          <p:cNvPr id="5" name="Rounded Rectangle 4"/>
          <p:cNvSpPr/>
          <p:nvPr/>
        </p:nvSpPr>
        <p:spPr>
          <a:xfrm>
            <a:off x="731520" y="1645920"/>
            <a:ext cx="621792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5669280" cy="4297680"/>
          </a:xfrm>
          <a:prstGeom prst="rect">
            <a:avLst/>
          </a:prstGeom>
          <a:noFill/>
        </p:spPr>
        <p:txBody>
          <a:bodyPr wrap="square" lIns="0" tIns="0" rIns="0" bIns="0">
            <a:spAutoFit/>
          </a:bodyPr>
          <a:lstStyle/>
          <a:p>
            <a:pPr>
              <a:defRPr sz="1100" b="1">
                <a:solidFill>
                  <a:srgbClr val="38BDF8"/>
                </a:solidFill>
              </a:defRPr>
            </a:pPr>
            <a:r>
              <a:t>DESAIN HERO SECTION YANG MEMUKAU</a:t>
            </a:r>
          </a:p>
          <a:p>
            <a:pPr>
              <a:spcAft>
                <a:spcPts val="1000"/>
              </a:spcAft>
              <a:defRPr sz="1100">
                <a:solidFill>
                  <a:srgbClr val="CBD5E1"/>
                </a:solidFill>
              </a:defRPr>
            </a:pPr>
            <a:r>
              <a:t>Hero section dirancang dengan layout horizontal modern yang menempatkan nama di sisi kiri ('Faliqul') dan sisi kanan ('Ishbah.') membingkai foto profil di tengah. Tidak ada huruf yang tertutup atau bertabrakan dengan tubuh.</a:t>
            </a:r>
          </a:p>
          <a:p>
            <a:pPr>
              <a:defRPr sz="1100" b="1">
                <a:solidFill>
                  <a:srgbClr val="34D399"/>
                </a:solidFill>
              </a:defRPr>
            </a:pPr>
            <a:r>
              <a:t>INTELEGENSI DESAIN &amp; MICRO-INTERACTION</a:t>
            </a:r>
          </a:p>
          <a:p>
            <a:pPr>
              <a:spcAft>
                <a:spcPts val="500"/>
              </a:spcAft>
              <a:defRPr sz="1000">
                <a:solidFill>
                  <a:srgbClr val="A0AEC0"/>
                </a:solidFill>
              </a:defRPr>
            </a:pPr>
            <a:r>
              <a:t>✔  React Bits &lt;ShapeGrid /&gt;: Grid canvas 3D dengan kemiringan perspektif (tiltX=58), drift dinamis, dan efek riak cahaya saat kursor mouse bergerak.</a:t>
            </a:r>
          </a:p>
          <a:p>
            <a:pPr>
              <a:spcAft>
                <a:spcPts val="500"/>
              </a:spcAft>
              <a:defRPr sz="1000">
                <a:solidFill>
                  <a:srgbClr val="A0AEC0"/>
                </a:solidFill>
              </a:defRPr>
            </a:pPr>
            <a:r>
              <a:t>✔  Kinetic Slide-in Typography: Teks meluncur dari luar layar dengan transisi blur-to-sharp yang elegan.</a:t>
            </a:r>
          </a:p>
          <a:p>
            <a:pPr>
              <a:spcAft>
                <a:spcPts val="500"/>
              </a:spcAft>
              <a:defRPr sz="1000">
                <a:solidFill>
                  <a:srgbClr val="A0AEC0"/>
                </a:solidFill>
              </a:defRPr>
            </a:pPr>
            <a:r>
              <a:t>✔  Social Hub Pins: Tombol profil LinkedIn, Email, GitHub, dan Instagram tersusun simetris di bawah nama.</a:t>
            </a:r>
          </a:p>
          <a:p>
            <a:pPr>
              <a:spcAft>
                <a:spcPts val="500"/>
              </a:spcAft>
              <a:defRPr sz="1000">
                <a:solidFill>
                  <a:srgbClr val="A0AEC0"/>
                </a:solidFill>
              </a:defRPr>
            </a:pPr>
            <a:r>
              <a:t>✔  Velocity Marquee: Teks berjalan (ScrollVelocity) di bagian kaki hero dengan shadow kontras tinggi dan efek fade mask halus di sisi kiri-kanan.</a:t>
            </a:r>
          </a:p>
        </p:txBody>
      </p:sp>
      <p:sp>
        <p:nvSpPr>
          <p:cNvPr id="7" name="Rounded Rectangle 6"/>
          <p:cNvSpPr/>
          <p:nvPr/>
        </p:nvSpPr>
        <p:spPr>
          <a:xfrm>
            <a:off x="7223760" y="1645920"/>
            <a:ext cx="420624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06640" y="2011680"/>
            <a:ext cx="3840480" cy="2160270"/>
          </a:xfrm>
          <a:prstGeom prst="rect">
            <a:avLst/>
          </a:prstGeom>
        </p:spPr>
      </p:pic>
      <p:sp>
        <p:nvSpPr>
          <p:cNvPr id="9" name="TextBox 8"/>
          <p:cNvSpPr txBox="1"/>
          <p:nvPr/>
        </p:nvSpPr>
        <p:spPr>
          <a:xfrm>
            <a:off x="7406640" y="5577840"/>
            <a:ext cx="3840480" cy="548640"/>
          </a:xfrm>
          <a:prstGeom prst="rect">
            <a:avLst/>
          </a:prstGeom>
          <a:noFill/>
        </p:spPr>
        <p:txBody>
          <a:bodyPr wrap="square">
            <a:spAutoFit/>
          </a:bodyPr>
          <a:lstStyle/>
          <a:p>
            <a:pPr algn="ctr">
              <a:defRPr sz="950">
                <a:solidFill>
                  <a:srgbClr val="A0AEC0"/>
                </a:solidFill>
              </a:defRPr>
            </a:pPr>
            <a:r>
              <a:t>Tampilan simetris Hero Section &amp; ShapeGrid canvas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38BDF8"/>
                </a:solidFill>
              </a:defRPr>
            </a:pPr>
            <a:r>
              <a:t>FITUR UNGGULAN PORTOFOLIO</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Kartu ID Lanyard 3D Interaktif &amp; Garis Waktu Pengalaman</a:t>
            </a:r>
          </a:p>
        </p:txBody>
      </p:sp>
      <p:sp>
        <p:nvSpPr>
          <p:cNvPr id="5" name="Rounded Rectangle 4"/>
          <p:cNvSpPr/>
          <p:nvPr/>
        </p:nvSpPr>
        <p:spPr>
          <a:xfrm>
            <a:off x="731520" y="1645920"/>
            <a:ext cx="621792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28800"/>
            <a:ext cx="5669280" cy="4297680"/>
          </a:xfrm>
          <a:prstGeom prst="rect">
            <a:avLst/>
          </a:prstGeom>
          <a:noFill/>
        </p:spPr>
        <p:txBody>
          <a:bodyPr wrap="square" lIns="0" tIns="0" rIns="0" bIns="0">
            <a:spAutoFit/>
          </a:bodyPr>
          <a:lstStyle/>
          <a:p>
            <a:pPr>
              <a:defRPr sz="1100" b="1">
                <a:solidFill>
                  <a:srgbClr val="38BDF8"/>
                </a:solidFill>
              </a:defRPr>
            </a:pPr>
            <a:r>
              <a:t>INTERAKTIVITAS 3D TINGKAT TINGGI</a:t>
            </a:r>
          </a:p>
          <a:p>
            <a:pPr>
              <a:spcAft>
                <a:spcPts val="1000"/>
              </a:spcAft>
              <a:defRPr sz="1100">
                <a:solidFill>
                  <a:srgbClr val="CBD5E1"/>
                </a:solidFill>
              </a:defRPr>
            </a:pPr>
            <a:r>
              <a:t>Alih-alih menampilkan daftar riwayat kerja yang membosankan, bagian Experience menghadirkan komponen ID Card Lanyard 3D yang dirender secara real-time menggunakan React Three Fiber dan Three.js.</a:t>
            </a:r>
          </a:p>
          <a:p>
            <a:pPr>
              <a:defRPr sz="1100" b="1">
                <a:solidFill>
                  <a:srgbClr val="FBBF24"/>
                </a:solidFill>
              </a:defRPr>
            </a:pPr>
            <a:r>
              <a:t>DETAIL TEKNIS &amp; FITUR</a:t>
            </a:r>
          </a:p>
          <a:p>
            <a:pPr>
              <a:spcAft>
                <a:spcPts val="500"/>
              </a:spcAft>
              <a:defRPr sz="1000">
                <a:solidFill>
                  <a:srgbClr val="A0AEC0"/>
                </a:solidFill>
              </a:defRPr>
            </a:pPr>
            <a:r>
              <a:t>✔  Simulasi Fisika Real-Time: Kartu dan tali lanyard dapat ditarik (*drag*), diayunkan, dan dilepas dengan pantulan gaya gravitasi alami.</a:t>
            </a:r>
          </a:p>
          <a:p>
            <a:pPr>
              <a:spcAft>
                <a:spcPts val="500"/>
              </a:spcAft>
              <a:defRPr sz="1000">
                <a:solidFill>
                  <a:srgbClr val="A0AEC0"/>
                </a:solidFill>
              </a:defRPr>
            </a:pPr>
            <a:r>
              <a:t>✔  Aset WebP Berbobot Ringan: Tekstur kartu dan tali dikonversi ke WebP untuk menghemat 94% ukuran file tanpa menurunkan ketajaman grafis.</a:t>
            </a:r>
          </a:p>
          <a:p>
            <a:pPr>
              <a:spcAft>
                <a:spcPts val="500"/>
              </a:spcAft>
              <a:defRPr sz="1000">
                <a:solidFill>
                  <a:srgbClr val="A0AEC0"/>
                </a:solidFill>
              </a:defRPr>
            </a:pPr>
            <a:r>
              <a:t>✔  Struktur Timeline Berkontras Tinggi: Menampilkan posisi Teaching Assistant UMM, AI Automation Engineer, dan Web Programmer dengan tanggal yang jelas di dark maupun light mode.</a:t>
            </a:r>
          </a:p>
          <a:p>
            <a:pPr>
              <a:spcAft>
                <a:spcPts val="500"/>
              </a:spcAft>
              <a:defRPr sz="1000">
                <a:solidFill>
                  <a:srgbClr val="A0AEC0"/>
                </a:solidFill>
              </a:defRPr>
            </a:pPr>
            <a:r>
              <a:t>✔  Live Status Badges: Label 'LIVE' berkedip hijau untuk pekerjaan aktif saat ini.</a:t>
            </a:r>
          </a:p>
        </p:txBody>
      </p:sp>
      <p:sp>
        <p:nvSpPr>
          <p:cNvPr id="7" name="Rounded Rectangle 6"/>
          <p:cNvSpPr/>
          <p:nvPr/>
        </p:nvSpPr>
        <p:spPr>
          <a:xfrm>
            <a:off x="7223760" y="1645920"/>
            <a:ext cx="4206240"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7406640" y="2011680"/>
            <a:ext cx="3840480" cy="2160270"/>
          </a:xfrm>
          <a:prstGeom prst="rect">
            <a:avLst/>
          </a:prstGeom>
        </p:spPr>
      </p:pic>
      <p:sp>
        <p:nvSpPr>
          <p:cNvPr id="9" name="TextBox 8"/>
          <p:cNvSpPr txBox="1"/>
          <p:nvPr/>
        </p:nvSpPr>
        <p:spPr>
          <a:xfrm>
            <a:off x="7406640" y="5577840"/>
            <a:ext cx="3840480" cy="548640"/>
          </a:xfrm>
          <a:prstGeom prst="rect">
            <a:avLst/>
          </a:prstGeom>
          <a:noFill/>
        </p:spPr>
        <p:txBody>
          <a:bodyPr wrap="square">
            <a:spAutoFit/>
          </a:bodyPr>
          <a:lstStyle/>
          <a:p>
            <a:pPr algn="ctr">
              <a:defRPr sz="950">
                <a:solidFill>
                  <a:srgbClr val="A0AEC0"/>
                </a:solidFill>
              </a:defRPr>
            </a:pPr>
            <a:r>
              <a:t>Section Experience dengan kartu 3D Lanyard &amp; Timeline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34D399"/>
                </a:solidFill>
              </a:defRPr>
            </a:pPr>
            <a:r>
              <a:t>FITUR UNGGULAN PORTOFOLIO</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Hub Proyek Dinamis (/projects): Pencarian Cepat &amp; Filter Ganda</a:t>
            </a:r>
          </a:p>
        </p:txBody>
      </p:sp>
      <p:sp>
        <p:nvSpPr>
          <p:cNvPr id="5" name="Rounded Rectangle 4"/>
          <p:cNvSpPr/>
          <p:nvPr/>
        </p:nvSpPr>
        <p:spPr>
          <a:xfrm>
            <a:off x="731520"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176272" cy="4297680"/>
          </a:xfrm>
          <a:prstGeom prst="rect">
            <a:avLst/>
          </a:prstGeom>
          <a:noFill/>
        </p:spPr>
        <p:txBody>
          <a:bodyPr wrap="square" lIns="0" tIns="0" rIns="0" bIns="0">
            <a:spAutoFit/>
          </a:bodyPr>
          <a:lstStyle/>
          <a:p>
            <a:pPr>
              <a:defRPr sz="1000" b="1">
                <a:solidFill>
                  <a:srgbClr val="34D399"/>
                </a:solidFill>
              </a:defRPr>
            </a:pPr>
            <a:r>
              <a:t>FITUR 01</a:t>
            </a:r>
          </a:p>
          <a:p>
            <a:pPr>
              <a:spcAft>
                <a:spcPts val="1200"/>
              </a:spcAft>
              <a:defRPr sz="1400" b="1">
                <a:solidFill>
                  <a:srgbClr val="FFFFFF"/>
                </a:solidFill>
              </a:defRPr>
            </a:pPr>
            <a:r>
              <a:t>Dual-Domain Switcher</a:t>
            </a:r>
          </a:p>
          <a:p>
            <a:pPr>
              <a:defRPr sz="1050">
                <a:solidFill>
                  <a:srgbClr val="CBD5E1"/>
                </a:solidFill>
              </a:defRPr>
            </a:pPr>
            <a:r>
              <a:t>Pemisah kategori utama: General Development (Web, Fullstack, IoT) vs Data Science (AI/ML, Analisis, Computer Vision) untuk segmentasi fokus audiens.</a:t>
            </a:r>
          </a:p>
        </p:txBody>
      </p:sp>
      <p:sp>
        <p:nvSpPr>
          <p:cNvPr id="7" name="Rounded Rectangle 6"/>
          <p:cNvSpPr/>
          <p:nvPr/>
        </p:nvSpPr>
        <p:spPr>
          <a:xfrm>
            <a:off x="3456432"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1828800"/>
            <a:ext cx="2176272" cy="4297680"/>
          </a:xfrm>
          <a:prstGeom prst="rect">
            <a:avLst/>
          </a:prstGeom>
          <a:noFill/>
        </p:spPr>
        <p:txBody>
          <a:bodyPr wrap="square" lIns="0" tIns="0" rIns="0" bIns="0">
            <a:spAutoFit/>
          </a:bodyPr>
          <a:lstStyle/>
          <a:p>
            <a:pPr>
              <a:defRPr sz="1000" b="1">
                <a:solidFill>
                  <a:srgbClr val="34D399"/>
                </a:solidFill>
              </a:defRPr>
            </a:pPr>
            <a:r>
              <a:t>FITUR 02</a:t>
            </a:r>
          </a:p>
          <a:p>
            <a:pPr>
              <a:spcAft>
                <a:spcPts val="1200"/>
              </a:spcAft>
              <a:defRPr sz="1400" b="1">
                <a:solidFill>
                  <a:srgbClr val="FFFFFF"/>
                </a:solidFill>
              </a:defRPr>
            </a:pPr>
            <a:r>
              <a:t>Pencarian Real-Time &amp; Subkategori</a:t>
            </a:r>
          </a:p>
          <a:p>
            <a:pPr>
              <a:defRPr sz="1050">
                <a:solidFill>
                  <a:srgbClr val="CBD5E1"/>
                </a:solidFill>
              </a:defRPr>
            </a:pPr>
            <a:r>
              <a:t>Pencarian teks instan tanpa delay dan chip filter subkategori (Web, Automation, Machine Learning, IoT) untuk penelusuran portofolio yang cepat.</a:t>
            </a:r>
          </a:p>
        </p:txBody>
      </p:sp>
      <p:sp>
        <p:nvSpPr>
          <p:cNvPr id="9" name="Rounded Rectangle 8"/>
          <p:cNvSpPr/>
          <p:nvPr/>
        </p:nvSpPr>
        <p:spPr>
          <a:xfrm>
            <a:off x="6181344"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828800"/>
            <a:ext cx="2176272" cy="4297680"/>
          </a:xfrm>
          <a:prstGeom prst="rect">
            <a:avLst/>
          </a:prstGeom>
          <a:noFill/>
        </p:spPr>
        <p:txBody>
          <a:bodyPr wrap="square" lIns="0" tIns="0" rIns="0" bIns="0">
            <a:spAutoFit/>
          </a:bodyPr>
          <a:lstStyle/>
          <a:p>
            <a:pPr>
              <a:defRPr sz="1000" b="1">
                <a:solidFill>
                  <a:srgbClr val="34D399"/>
                </a:solidFill>
              </a:defRPr>
            </a:pPr>
            <a:r>
              <a:t>FITUR 03</a:t>
            </a:r>
          </a:p>
          <a:p>
            <a:pPr>
              <a:spcAft>
                <a:spcPts val="1200"/>
              </a:spcAft>
              <a:defRPr sz="1400" b="1">
                <a:solidFill>
                  <a:srgbClr val="FFFFFF"/>
                </a:solidFill>
              </a:defRPr>
            </a:pPr>
            <a:r>
              <a:t>Pengurutan Fleksibel</a:t>
            </a:r>
          </a:p>
          <a:p>
            <a:pPr>
              <a:defRPr sz="1050">
                <a:solidFill>
                  <a:srgbClr val="CBD5E1"/>
                </a:solidFill>
              </a:defRPr>
            </a:pPr>
            <a:r>
              <a:t>Sorting cerdas mencakup Pinned Projects (karya unggulan), Terkini, Terlama, dan Alfabetis A-Z untuk kenyamanan eksplorasi pengunjung.</a:t>
            </a:r>
          </a:p>
        </p:txBody>
      </p:sp>
      <p:sp>
        <p:nvSpPr>
          <p:cNvPr id="11" name="Rounded Rectangle 10"/>
          <p:cNvSpPr/>
          <p:nvPr/>
        </p:nvSpPr>
        <p:spPr>
          <a:xfrm>
            <a:off x="8906256"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89136" y="1828800"/>
            <a:ext cx="2176272" cy="4297680"/>
          </a:xfrm>
          <a:prstGeom prst="rect">
            <a:avLst/>
          </a:prstGeom>
          <a:noFill/>
        </p:spPr>
        <p:txBody>
          <a:bodyPr wrap="square" lIns="0" tIns="0" rIns="0" bIns="0">
            <a:spAutoFit/>
          </a:bodyPr>
          <a:lstStyle/>
          <a:p>
            <a:pPr>
              <a:defRPr sz="1000" b="1">
                <a:solidFill>
                  <a:srgbClr val="34D399"/>
                </a:solidFill>
              </a:defRPr>
            </a:pPr>
            <a:r>
              <a:t>FITUR 04</a:t>
            </a:r>
          </a:p>
          <a:p>
            <a:pPr>
              <a:spcAft>
                <a:spcPts val="1200"/>
              </a:spcAft>
              <a:defRPr sz="1400" b="1">
                <a:solidFill>
                  <a:srgbClr val="FFFFFF"/>
                </a:solidFill>
              </a:defRPr>
            </a:pPr>
            <a:r>
              <a:t>Modal Detail &amp; Live Links</a:t>
            </a:r>
          </a:p>
          <a:p>
            <a:pPr>
              <a:defRPr sz="1050">
                <a:solidFill>
                  <a:srgbClr val="CBD5E1"/>
                </a:solidFill>
              </a:defRPr>
            </a:pPr>
            <a:r>
              <a:t>Setiap proyek dilengkapi modal popup yang menyajikan carousel tangkapan layar, daftar fitur teknis mendalam, tautan GitHub, dan website demo aktif.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34D399"/>
                </a:solidFill>
              </a:defRPr>
            </a:pPr>
            <a:r>
              <a:t>FITUR UNGGULAN PORTOFOLIO</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Halaman Cerita Karier (/about) &amp; Galeri 3D DriftWall (/gallery)</a:t>
            </a:r>
          </a:p>
        </p:txBody>
      </p:sp>
      <p:sp>
        <p:nvSpPr>
          <p:cNvPr id="5" name="Rounded Rectangle 4"/>
          <p:cNvSpPr/>
          <p:nvPr/>
        </p:nvSpPr>
        <p:spPr>
          <a:xfrm>
            <a:off x="731520" y="1645920"/>
            <a:ext cx="5257800" cy="210312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828800"/>
            <a:ext cx="4800600" cy="1737360"/>
          </a:xfrm>
          <a:prstGeom prst="rect">
            <a:avLst/>
          </a:prstGeom>
          <a:noFill/>
        </p:spPr>
        <p:txBody>
          <a:bodyPr wrap="square" lIns="0" tIns="0" rIns="0" bIns="0">
            <a:spAutoFit/>
          </a:bodyPr>
          <a:lstStyle/>
          <a:p>
            <a:pPr>
              <a:spcAft>
                <a:spcPts val="400"/>
              </a:spcAft>
              <a:defRPr sz="1000" b="1">
                <a:solidFill>
                  <a:srgbClr val="34D399"/>
                </a:solidFill>
              </a:defRPr>
            </a:pPr>
            <a:r>
              <a:t>1. TIMELINE PERJALANAN HIDUP</a:t>
            </a:r>
          </a:p>
          <a:p>
            <a:pPr>
              <a:spcAft>
                <a:spcPts val="600"/>
              </a:spcAft>
              <a:defRPr sz="1300" b="1">
                <a:solidFill>
                  <a:srgbClr val="FFFFFF"/>
                </a:solidFill>
              </a:defRPr>
            </a:pPr>
            <a:r>
              <a:t>Story Journey &amp; Jejak Pendidikan</a:t>
            </a:r>
          </a:p>
          <a:p>
            <a:pPr>
              <a:defRPr sz="1050">
                <a:solidFill>
                  <a:srgbClr val="CBD5E1"/>
                </a:solidFill>
              </a:defRPr>
            </a:pPr>
            <a:r>
              <a:t>Merekam perjalanan dari Pondok Modern Darussalam Gontor, Madrasah, hingga Teknik Informatika Universitas Muhammadiyah Malang dengan foto historis dan narasi personal.</a:t>
            </a:r>
          </a:p>
        </p:txBody>
      </p:sp>
      <p:sp>
        <p:nvSpPr>
          <p:cNvPr id="7" name="Rounded Rectangle 6"/>
          <p:cNvSpPr/>
          <p:nvPr/>
        </p:nvSpPr>
        <p:spPr>
          <a:xfrm>
            <a:off x="6172200" y="1645920"/>
            <a:ext cx="5257800" cy="210312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00600" cy="1737360"/>
          </a:xfrm>
          <a:prstGeom prst="rect">
            <a:avLst/>
          </a:prstGeom>
          <a:noFill/>
        </p:spPr>
        <p:txBody>
          <a:bodyPr wrap="square" lIns="0" tIns="0" rIns="0" bIns="0">
            <a:spAutoFit/>
          </a:bodyPr>
          <a:lstStyle/>
          <a:p>
            <a:pPr>
              <a:spcAft>
                <a:spcPts val="400"/>
              </a:spcAft>
              <a:defRPr sz="1000" b="1">
                <a:solidFill>
                  <a:srgbClr val="34D399"/>
                </a:solidFill>
              </a:defRPr>
            </a:pPr>
            <a:r>
              <a:t>2. CAROUSEL SERTIFIKASI &amp; LIGHTBOX MODAL</a:t>
            </a:r>
          </a:p>
          <a:p>
            <a:pPr>
              <a:spcAft>
                <a:spcPts val="600"/>
              </a:spcAft>
              <a:defRPr sz="1300" b="1">
                <a:solidFill>
                  <a:srgbClr val="FFFFFF"/>
                </a:solidFill>
              </a:defRPr>
            </a:pPr>
            <a:r>
              <a:t>Verifikasi Kredensial Profesional</a:t>
            </a:r>
          </a:p>
          <a:p>
            <a:pPr>
              <a:defRPr sz="1050">
                <a:solidFill>
                  <a:srgbClr val="CBD5E1"/>
                </a:solidFill>
              </a:defRPr>
            </a:pPr>
            <a:r>
              <a:t>Etalase sertifikasi internasional (Google IT Support, Dicoding, UMM). Dilengkapi modal preview beresolusi tinggi dengan tombol close yang jelas dan penutupan sentuh di luar gambar.</a:t>
            </a:r>
          </a:p>
        </p:txBody>
      </p:sp>
      <p:sp>
        <p:nvSpPr>
          <p:cNvPr id="9" name="Rounded Rectangle 8"/>
          <p:cNvSpPr/>
          <p:nvPr/>
        </p:nvSpPr>
        <p:spPr>
          <a:xfrm>
            <a:off x="731520" y="3931920"/>
            <a:ext cx="5257800" cy="210312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114800"/>
            <a:ext cx="4800600" cy="1737360"/>
          </a:xfrm>
          <a:prstGeom prst="rect">
            <a:avLst/>
          </a:prstGeom>
          <a:noFill/>
        </p:spPr>
        <p:txBody>
          <a:bodyPr wrap="square" lIns="0" tIns="0" rIns="0" bIns="0">
            <a:spAutoFit/>
          </a:bodyPr>
          <a:lstStyle/>
          <a:p>
            <a:pPr>
              <a:spcAft>
                <a:spcPts val="400"/>
              </a:spcAft>
              <a:defRPr sz="1000" b="1">
                <a:solidFill>
                  <a:srgbClr val="34D399"/>
                </a:solidFill>
              </a:defRPr>
            </a:pPr>
            <a:r>
              <a:t>3. 3D DRIFTWALL MOMENTUM GALLERY</a:t>
            </a:r>
          </a:p>
          <a:p>
            <a:pPr>
              <a:spcAft>
                <a:spcPts val="600"/>
              </a:spcAft>
              <a:defRPr sz="1300" b="1">
                <a:solidFill>
                  <a:srgbClr val="FFFFFF"/>
                </a:solidFill>
              </a:defRPr>
            </a:pPr>
            <a:r>
              <a:t>Galeri Visual Berbasis Fisika 3D</a:t>
            </a:r>
          </a:p>
          <a:p>
            <a:pPr>
              <a:defRPr sz="1050">
                <a:solidFill>
                  <a:srgbClr val="CBD5E1"/>
                </a:solidFill>
              </a:defRPr>
            </a:pPr>
            <a:r>
              <a:t>Halaman /gallery menghadirkan dinding ubin foto 3D dengan kemiringan perspektif dan kecepatan momentum yang menyesuaikan ukuran layar mobile, tablet, dan desktop.</a:t>
            </a:r>
          </a:p>
        </p:txBody>
      </p:sp>
      <p:sp>
        <p:nvSpPr>
          <p:cNvPr id="11" name="Rounded Rectangle 10"/>
          <p:cNvSpPr/>
          <p:nvPr/>
        </p:nvSpPr>
        <p:spPr>
          <a:xfrm>
            <a:off x="6172200" y="3931920"/>
            <a:ext cx="5257800" cy="210312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114800"/>
            <a:ext cx="4800600" cy="1737360"/>
          </a:xfrm>
          <a:prstGeom prst="rect">
            <a:avLst/>
          </a:prstGeom>
          <a:noFill/>
        </p:spPr>
        <p:txBody>
          <a:bodyPr wrap="square" lIns="0" tIns="0" rIns="0" bIns="0">
            <a:spAutoFit/>
          </a:bodyPr>
          <a:lstStyle/>
          <a:p>
            <a:pPr>
              <a:spcAft>
                <a:spcPts val="400"/>
              </a:spcAft>
              <a:defRPr sz="1000" b="1">
                <a:solidFill>
                  <a:srgbClr val="34D399"/>
                </a:solidFill>
              </a:defRPr>
            </a:pPr>
            <a:r>
              <a:t>4. CV PREVIEW MODAL TERPADU</a:t>
            </a:r>
          </a:p>
          <a:p>
            <a:pPr>
              <a:spcAft>
                <a:spcPts val="600"/>
              </a:spcAft>
              <a:defRPr sz="1300" b="1">
                <a:solidFill>
                  <a:srgbClr val="FFFFFF"/>
                </a:solidFill>
              </a:defRPr>
            </a:pPr>
            <a:r>
              <a:t>Akses Dokumen Resume Sekali Klik</a:t>
            </a:r>
          </a:p>
          <a:p>
            <a:pPr>
              <a:defRPr sz="1050">
                <a:solidFill>
                  <a:srgbClr val="CBD5E1"/>
                </a:solidFill>
              </a:defRPr>
            </a:pPr>
            <a:r>
              <a:t>Pengunjung dapat melihat pratinjau dokumen PDF CV secara langsung di dalam modal tanpa perlu meninggalkan halaman website portofolio.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FBBF24"/>
                </a:solidFill>
              </a:defRPr>
            </a:pPr>
            <a:r>
              <a:t>KUALITAS REKAYASA</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Optimasi Performa, Aksesibilitas, &amp; SEO Terverifikasi</a:t>
            </a:r>
          </a:p>
        </p:txBody>
      </p:sp>
      <p:sp>
        <p:nvSpPr>
          <p:cNvPr id="5" name="Rounded Rectangle 4"/>
          <p:cNvSpPr/>
          <p:nvPr/>
        </p:nvSpPr>
        <p:spPr>
          <a:xfrm>
            <a:off x="731520"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2176272" cy="3931920"/>
          </a:xfrm>
          <a:prstGeom prst="rect">
            <a:avLst/>
          </a:prstGeom>
          <a:noFill/>
        </p:spPr>
        <p:txBody>
          <a:bodyPr wrap="square" lIns="0" tIns="0" rIns="0" bIns="0">
            <a:spAutoFit/>
          </a:bodyPr>
          <a:lstStyle/>
          <a:p>
            <a:pPr>
              <a:spcAft>
                <a:spcPts val="400"/>
              </a:spcAft>
              <a:defRPr sz="3200" b="1">
                <a:solidFill>
                  <a:srgbClr val="FBBF24"/>
                </a:solidFill>
              </a:defRPr>
            </a:pPr>
            <a:r>
              <a:t>100%</a:t>
            </a:r>
          </a:p>
          <a:p>
            <a:pPr>
              <a:spcAft>
                <a:spcPts val="1200"/>
              </a:spcAft>
              <a:defRPr sz="1400" b="1">
                <a:solidFill>
                  <a:srgbClr val="FFFFFF"/>
                </a:solidFill>
              </a:defRPr>
            </a:pPr>
            <a:r>
              <a:t>Bilingual Localization</a:t>
            </a:r>
          </a:p>
          <a:p>
            <a:pPr>
              <a:defRPr sz="1050">
                <a:solidFill>
                  <a:srgbClr val="A0AEC0"/>
                </a:solidFill>
              </a:defRPr>
            </a:pPr>
            <a:r>
              <a:t>Dukungan penuh dua bahasa (Bahasa Indonesia &amp; Bahasa Inggris) yang mencakup seluruh teks, heading, proyek, dan tombol prompt AI.</a:t>
            </a:r>
          </a:p>
        </p:txBody>
      </p:sp>
      <p:sp>
        <p:nvSpPr>
          <p:cNvPr id="7" name="Rounded Rectangle 6"/>
          <p:cNvSpPr/>
          <p:nvPr/>
        </p:nvSpPr>
        <p:spPr>
          <a:xfrm>
            <a:off x="3456432"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2011680"/>
            <a:ext cx="2176272" cy="3931920"/>
          </a:xfrm>
          <a:prstGeom prst="rect">
            <a:avLst/>
          </a:prstGeom>
          <a:noFill/>
        </p:spPr>
        <p:txBody>
          <a:bodyPr wrap="square" lIns="0" tIns="0" rIns="0" bIns="0">
            <a:spAutoFit/>
          </a:bodyPr>
          <a:lstStyle/>
          <a:p>
            <a:pPr>
              <a:spcAft>
                <a:spcPts val="400"/>
              </a:spcAft>
              <a:defRPr sz="3200" b="1">
                <a:solidFill>
                  <a:srgbClr val="FBBF24"/>
                </a:solidFill>
              </a:defRPr>
            </a:pPr>
            <a:r>
              <a:t>&lt; 1.2s</a:t>
            </a:r>
          </a:p>
          <a:p>
            <a:pPr>
              <a:spcAft>
                <a:spcPts val="1200"/>
              </a:spcAft>
              <a:defRPr sz="1400" b="1">
                <a:solidFill>
                  <a:srgbClr val="FFFFFF"/>
                </a:solidFill>
              </a:defRPr>
            </a:pPr>
            <a:r>
              <a:t>Fast First Load</a:t>
            </a:r>
          </a:p>
          <a:p>
            <a:pPr>
              <a:defRPr sz="1050">
                <a:solidFill>
                  <a:srgbClr val="A0AEC0"/>
                </a:solidFill>
              </a:defRPr>
            </a:pPr>
            <a:r>
              <a:t>Konversi seluruh aset gambar ke format WebP, code-splitting otomatis per route, dan eliminasi file tidak terpakai menghemat ratusan kilobyte.</a:t>
            </a:r>
          </a:p>
        </p:txBody>
      </p:sp>
      <p:sp>
        <p:nvSpPr>
          <p:cNvPr id="9" name="Rounded Rectangle 8"/>
          <p:cNvSpPr/>
          <p:nvPr/>
        </p:nvSpPr>
        <p:spPr>
          <a:xfrm>
            <a:off x="6181344"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2011680"/>
            <a:ext cx="2176272" cy="3931920"/>
          </a:xfrm>
          <a:prstGeom prst="rect">
            <a:avLst/>
          </a:prstGeom>
          <a:noFill/>
        </p:spPr>
        <p:txBody>
          <a:bodyPr wrap="square" lIns="0" tIns="0" rIns="0" bIns="0">
            <a:spAutoFit/>
          </a:bodyPr>
          <a:lstStyle/>
          <a:p>
            <a:pPr>
              <a:spcAft>
                <a:spcPts val="400"/>
              </a:spcAft>
              <a:defRPr sz="3200" b="1">
                <a:solidFill>
                  <a:srgbClr val="FBBF24"/>
                </a:solidFill>
              </a:defRPr>
            </a:pPr>
            <a:r>
              <a:t>Verified</a:t>
            </a:r>
          </a:p>
          <a:p>
            <a:pPr>
              <a:spcAft>
                <a:spcPts val="1200"/>
              </a:spcAft>
              <a:defRPr sz="1400" b="1">
                <a:solidFill>
                  <a:srgbClr val="FFFFFF"/>
                </a:solidFill>
              </a:defRPr>
            </a:pPr>
            <a:r>
              <a:t>Google Search Console</a:t>
            </a:r>
          </a:p>
          <a:p>
            <a:pPr>
              <a:defRPr sz="1050">
                <a:solidFill>
                  <a:srgbClr val="A0AEC0"/>
                </a:solidFill>
              </a:defRPr>
            </a:pPr>
            <a:r>
              <a:t>Konfigurasi sitemap.xml, robots.txt dinamis, meta tag verifikasi Google, dan OpenGraph kartu sosial media Twitter &amp; LinkedIn.</a:t>
            </a:r>
          </a:p>
        </p:txBody>
      </p:sp>
      <p:sp>
        <p:nvSpPr>
          <p:cNvPr id="11" name="Rounded Rectangle 10"/>
          <p:cNvSpPr/>
          <p:nvPr/>
        </p:nvSpPr>
        <p:spPr>
          <a:xfrm>
            <a:off x="8906256" y="1645920"/>
            <a:ext cx="254203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89136" y="2011680"/>
            <a:ext cx="2176272" cy="3931920"/>
          </a:xfrm>
          <a:prstGeom prst="rect">
            <a:avLst/>
          </a:prstGeom>
          <a:noFill/>
        </p:spPr>
        <p:txBody>
          <a:bodyPr wrap="square" lIns="0" tIns="0" rIns="0" bIns="0">
            <a:spAutoFit/>
          </a:bodyPr>
          <a:lstStyle/>
          <a:p>
            <a:pPr>
              <a:spcAft>
                <a:spcPts val="400"/>
              </a:spcAft>
              <a:defRPr sz="3200" b="1">
                <a:solidFill>
                  <a:srgbClr val="FBBF24"/>
                </a:solidFill>
              </a:defRPr>
            </a:pPr>
            <a:r>
              <a:t>A11y</a:t>
            </a:r>
          </a:p>
          <a:p>
            <a:pPr>
              <a:spcAft>
                <a:spcPts val="1200"/>
              </a:spcAft>
              <a:defRPr sz="1400" b="1">
                <a:solidFill>
                  <a:srgbClr val="FFFFFF"/>
                </a:solidFill>
              </a:defRPr>
            </a:pPr>
            <a:r>
              <a:t>Accessibility Friendly</a:t>
            </a:r>
          </a:p>
          <a:p>
            <a:pPr>
              <a:defRPr sz="1050">
                <a:solidFill>
                  <a:srgbClr val="A0AEC0"/>
                </a:solidFill>
              </a:defRPr>
            </a:pPr>
            <a:r>
              <a:t>Kepatuhan prefers-reduced-motion untuk pengguna sensitif animasi, kontras warna teks AA, dan navigasi ramah pembaca layar.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solidFill>
              <a:srgbClr val="0B0F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38912"/>
            <a:ext cx="10698480" cy="320040"/>
          </a:xfrm>
          <a:prstGeom prst="rect">
            <a:avLst/>
          </a:prstGeom>
          <a:noFill/>
        </p:spPr>
        <p:txBody>
          <a:bodyPr wrap="square" lIns="0" tIns="0" rIns="0" bIns="0">
            <a:spAutoFit/>
          </a:bodyPr>
          <a:lstStyle/>
          <a:p>
            <a:pPr>
              <a:defRPr sz="1100" b="1">
                <a:solidFill>
                  <a:srgbClr val="A855F7"/>
                </a:solidFill>
              </a:defRPr>
            </a:pPr>
            <a:r>
              <a:t>PENUTUP &amp; HUBUNGI PENGEMBANG</a:t>
            </a:r>
          </a:p>
        </p:txBody>
      </p:sp>
      <p:sp>
        <p:nvSpPr>
          <p:cNvPr id="4" name="TextBox 3"/>
          <p:cNvSpPr txBox="1"/>
          <p:nvPr/>
        </p:nvSpPr>
        <p:spPr>
          <a:xfrm>
            <a:off x="731520" y="749808"/>
            <a:ext cx="10698480" cy="640080"/>
          </a:xfrm>
          <a:prstGeom prst="rect">
            <a:avLst/>
          </a:prstGeom>
          <a:noFill/>
        </p:spPr>
        <p:txBody>
          <a:bodyPr wrap="square" lIns="0" tIns="0" rIns="0" bIns="0">
            <a:spAutoFit/>
          </a:bodyPr>
          <a:lstStyle/>
          <a:p>
            <a:pPr>
              <a:defRPr sz="2200" b="1">
                <a:solidFill>
                  <a:srgbClr val="FFFFFF"/>
                </a:solidFill>
              </a:defRPr>
            </a:pPr>
            <a:r>
              <a:t>Mewujudkan Pengalaman Digital yang Berdampak &amp; Siap Skalabilitas</a:t>
            </a:r>
          </a:p>
        </p:txBody>
      </p:sp>
      <p:sp>
        <p:nvSpPr>
          <p:cNvPr id="5" name="Rounded Rectangle 4"/>
          <p:cNvSpPr/>
          <p:nvPr/>
        </p:nvSpPr>
        <p:spPr>
          <a:xfrm>
            <a:off x="731520" y="1645920"/>
            <a:ext cx="10725912" cy="4663440"/>
          </a:xfrm>
          <a:prstGeom prst="roundRect">
            <a:avLst/>
          </a:prstGeom>
          <a:solidFill>
            <a:srgbClr val="141A2A"/>
          </a:solidFill>
          <a:ln w="15240">
            <a:solidFill>
              <a:srgbClr val="2834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874519"/>
            <a:ext cx="9966960" cy="4206240"/>
          </a:xfrm>
          <a:prstGeom prst="rect">
            <a:avLst/>
          </a:prstGeom>
          <a:noFill/>
        </p:spPr>
        <p:txBody>
          <a:bodyPr wrap="square" lIns="0" tIns="0" rIns="0" bIns="0">
            <a:spAutoFit/>
          </a:bodyPr>
          <a:lstStyle/>
          <a:p>
            <a:pPr>
              <a:defRPr sz="2400" b="1">
                <a:solidFill>
                  <a:srgbClr val="FFFFFF"/>
                </a:solidFill>
              </a:defRPr>
            </a:pPr>
            <a:r>
              <a:t>Faliqul Ishbah</a:t>
            </a:r>
          </a:p>
          <a:p>
            <a:pPr>
              <a:spcAft>
                <a:spcPts val="1400"/>
              </a:spcAft>
              <a:defRPr sz="1300">
                <a:solidFill>
                  <a:srgbClr val="A855F7"/>
                </a:solidFill>
              </a:defRPr>
            </a:pPr>
            <a:r>
              <a:t>AI Automation Engineer • Data Scientist • Fullstack &amp; Frontend Developer</a:t>
            </a:r>
          </a:p>
          <a:p>
            <a:pPr>
              <a:defRPr sz="1200" b="1">
                <a:solidFill>
                  <a:srgbClr val="38BDF8"/>
                </a:solidFill>
              </a:defRPr>
            </a:pPr>
            <a:r>
              <a:t>Nilai Utama Portofolio Ini:</a:t>
            </a:r>
          </a:p>
          <a:p>
            <a:pPr>
              <a:spcAft>
                <a:spcPts val="1600"/>
              </a:spcAft>
              <a:defRPr sz="1100">
                <a:solidFill>
                  <a:srgbClr val="CBD5E1"/>
                </a:solidFill>
              </a:defRPr>
            </a:pPr>
            <a:r>
              <a:t>Website portofolio ini merepresentasikan penguasaan rekayasa software modern secara utuh: memadukan keindahan visual interaktif 3D WebGL, ketelitian arsitektur kode frontend Next.js/TypeScript, serta integrasi Artificial Intelligence (Google Gemini) yang siap berinteraksi langsung dengan audiens bisnis.</a:t>
            </a:r>
          </a:p>
          <a:p>
            <a:pPr>
              <a:defRPr sz="1200" b="1">
                <a:solidFill>
                  <a:srgbClr val="34D399"/>
                </a:solidFill>
              </a:defRPr>
            </a:pPr>
            <a:r>
              <a:t>Tautan Langsung &amp; Kontak Resmi:</a:t>
            </a:r>
          </a:p>
          <a:p>
            <a:pPr>
              <a:spcAft>
                <a:spcPts val="200"/>
              </a:spcAft>
              <a:defRPr sz="1050">
                <a:solidFill>
                  <a:srgbClr val="A0AEC0"/>
                </a:solidFill>
              </a:defRPr>
            </a:pPr>
            <a:r>
              <a:t>🌐 Website Live: https://faliq-portfolio.vercel.app/</a:t>
            </a:r>
          </a:p>
          <a:p>
            <a:pPr>
              <a:spcAft>
                <a:spcPts val="200"/>
              </a:spcAft>
              <a:defRPr sz="1050">
                <a:solidFill>
                  <a:srgbClr val="A0AEC0"/>
                </a:solidFill>
              </a:defRPr>
            </a:pPr>
            <a:r>
              <a:t>🤖 AI Assistant Live: https://faliq-portfolio.vercel.app/ai-assistant</a:t>
            </a:r>
          </a:p>
          <a:p>
            <a:pPr>
              <a:spcAft>
                <a:spcPts val="200"/>
              </a:spcAft>
              <a:defRPr sz="1050">
                <a:solidFill>
                  <a:srgbClr val="A0AEC0"/>
                </a:solidFill>
              </a:defRPr>
            </a:pPr>
            <a:r>
              <a:t>💼 LinkedIn: https://www.linkedin.com/in/faliqulishbah/</a:t>
            </a:r>
          </a:p>
          <a:p>
            <a:pPr>
              <a:spcAft>
                <a:spcPts val="200"/>
              </a:spcAft>
              <a:defRPr sz="1050">
                <a:solidFill>
                  <a:srgbClr val="A0AEC0"/>
                </a:solidFill>
              </a:defRPr>
            </a:pPr>
            <a:r>
              <a:t>🐙 GitHub: https://github.com/Faliqulxx</a:t>
            </a:r>
          </a:p>
          <a:p>
            <a:pPr>
              <a:spcAft>
                <a:spcPts val="200"/>
              </a:spcAft>
              <a:defRPr sz="1050">
                <a:solidFill>
                  <a:srgbClr val="A0AEC0"/>
                </a:solidFill>
              </a:defRPr>
            </a:pPr>
            <a:r>
              <a:t>✉️ Email: faliqul.isback@gmail.com</a:t>
            </a:r>
          </a:p>
          <a:p>
            <a:pPr>
              <a:spcAft>
                <a:spcPts val="200"/>
              </a:spcAft>
              <a:defRPr sz="1050">
                <a:solidFill>
                  <a:srgbClr val="A0AEC0"/>
                </a:solidFill>
              </a:defRPr>
            </a:pPr>
            <a:r>
              <a:t>📍 Lokasi: Gresik, Jawa Timur, Indonesia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