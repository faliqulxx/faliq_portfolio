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371600"/>
            <a:ext cx="2926080" cy="384048"/>
          </a:xfrm>
          <a:prstGeom prst="roundRect">
            <a:avLst/>
          </a:prstGeom>
          <a:solidFill>
            <a:srgbClr val="18264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PORTFOLIO DOKUMENTASI PROYEK AI</a:t>
            </a:r>
          </a:p>
        </p:txBody>
      </p:sp>
      <p:sp>
        <p:nvSpPr>
          <p:cNvPr id="5" name="TextBox 4"/>
          <p:cNvSpPr txBox="1"/>
          <p:nvPr/>
        </p:nvSpPr>
        <p:spPr>
          <a:xfrm>
            <a:off x="1097280" y="1920240"/>
            <a:ext cx="9875520" cy="1463040"/>
          </a:xfrm>
          <a:prstGeom prst="rect">
            <a:avLst/>
          </a:prstGeom>
          <a:noFill/>
        </p:spPr>
        <p:txBody>
          <a:bodyPr wrap="square" lIns="0" tIns="0" rIns="0" bIns="0">
            <a:spAutoFit/>
          </a:bodyPr>
          <a:lstStyle/>
          <a:p>
            <a:pPr>
              <a:defRPr sz="3400" b="1">
                <a:solidFill>
                  <a:srgbClr val="FFFFFF"/>
                </a:solidFill>
              </a:defRPr>
            </a:pPr>
            <a:r>
              <a:t>Sistem AI &amp; Otomasi Cerdas Berbasis Workflow &amp; RAG</a:t>
            </a:r>
          </a:p>
        </p:txBody>
      </p:sp>
      <p:sp>
        <p:nvSpPr>
          <p:cNvPr id="6" name="TextBox 5"/>
          <p:cNvSpPr txBox="1"/>
          <p:nvPr/>
        </p:nvSpPr>
        <p:spPr>
          <a:xfrm>
            <a:off x="1097280" y="3291840"/>
            <a:ext cx="9875520" cy="914400"/>
          </a:xfrm>
          <a:prstGeom prst="rect">
            <a:avLst/>
          </a:prstGeom>
          <a:noFill/>
        </p:spPr>
        <p:txBody>
          <a:bodyPr wrap="square" lIns="0" tIns="0" rIns="0" bIns="0">
            <a:spAutoFit/>
          </a:bodyPr>
          <a:lstStyle/>
          <a:p>
            <a:pPr>
              <a:defRPr sz="1500">
                <a:solidFill>
                  <a:srgbClr val="A0AEC0"/>
                </a:solidFill>
              </a:defRPr>
            </a:pPr>
            <a:r>
              <a:t>Dokumentasi Arsitektur, Implementasi Teknis, dan Studi Kasus pada:</a:t>
            </a:r>
            <a:br/>
            <a:r>
              <a:t>1. OmniCore AI   •   2. WhatsApp AI Rental Mobil   •   3. WhatsApp RAG AI Assistant</a:t>
            </a:r>
          </a:p>
        </p:txBody>
      </p:sp>
      <p:sp>
        <p:nvSpPr>
          <p:cNvPr id="7" name="Rounded Rectangle 6"/>
          <p:cNvSpPr/>
          <p:nvPr/>
        </p:nvSpPr>
        <p:spPr>
          <a:xfrm>
            <a:off x="1097280" y="4572000"/>
            <a:ext cx="9875520" cy="14630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4754880"/>
            <a:ext cx="9326880" cy="1097280"/>
          </a:xfrm>
          <a:prstGeom prst="rect">
            <a:avLst/>
          </a:prstGeom>
          <a:noFill/>
        </p:spPr>
        <p:txBody>
          <a:bodyPr wrap="square">
            <a:spAutoFit/>
          </a:bodyPr>
          <a:lstStyle/>
          <a:p>
            <a:pPr>
              <a:defRPr sz="1800" b="1">
                <a:solidFill>
                  <a:srgbClr val="34D399"/>
                </a:solidFill>
              </a:defRPr>
            </a:pPr>
            <a:r>
              <a:t>Faliqul Ishbah</a:t>
            </a:r>
          </a:p>
          <a:p>
            <a:pPr>
              <a:defRPr sz="1300">
                <a:solidFill>
                  <a:srgbClr val="CBD5E1"/>
                </a:solidFill>
              </a:defRPr>
            </a:pPr>
            <a:r>
              <a:t>AI Automation Engineer &amp; Data Scientist  |  Gresik, Jawa Timur, Indonesia</a:t>
            </a:r>
          </a:p>
          <a:p>
            <a:pPr>
              <a:defRPr sz="1100">
                <a:solidFill>
                  <a:srgbClr val="A0AEC0"/>
                </a:solidFill>
              </a:defRPr>
            </a:pPr>
            <a:r>
              <a:t>Tech: n8n Workflow Orchestration, LangChain, Hybrid LLMs (Gemini &amp; OpenAI), Supabase pgvector, PostgreSQL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38BDF8"/>
                </a:solidFill>
              </a:defRPr>
            </a:pPr>
            <a:r>
              <a:t>RINGKASAN EKSEKUTIF</a:t>
            </a:r>
          </a:p>
        </p:txBody>
      </p:sp>
      <p:sp>
        <p:nvSpPr>
          <p:cNvPr id="4" name="TextBox 3"/>
          <p:cNvSpPr txBox="1"/>
          <p:nvPr/>
        </p:nvSpPr>
        <p:spPr>
          <a:xfrm>
            <a:off x="731520" y="777240"/>
            <a:ext cx="10698480" cy="640080"/>
          </a:xfrm>
          <a:prstGeom prst="rect">
            <a:avLst/>
          </a:prstGeom>
          <a:noFill/>
        </p:spPr>
        <p:txBody>
          <a:bodyPr wrap="square" lIns="0" tIns="0" rIns="0" bIns="0">
            <a:spAutoFit/>
          </a:bodyPr>
          <a:lstStyle/>
          <a:p>
            <a:pPr>
              <a:defRPr sz="2200" b="1">
                <a:solidFill>
                  <a:srgbClr val="FFFFFF"/>
                </a:solidFill>
              </a:defRPr>
            </a:pPr>
            <a:r>
              <a:t>Tiga Pilar Solusi AI &amp; Otomasi Berdampak Nyata</a:t>
            </a:r>
          </a:p>
        </p:txBody>
      </p:sp>
      <p:sp>
        <p:nvSpPr>
          <p:cNvPr id="5" name="Rounded Rectangle 4"/>
          <p:cNvSpPr/>
          <p:nvPr/>
        </p:nvSpPr>
        <p:spPr>
          <a:xfrm>
            <a:off x="731520" y="1645920"/>
            <a:ext cx="342900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71800" cy="4297680"/>
          </a:xfrm>
          <a:prstGeom prst="rect">
            <a:avLst/>
          </a:prstGeom>
          <a:noFill/>
        </p:spPr>
        <p:txBody>
          <a:bodyPr wrap="square" lIns="0" tIns="0" rIns="0" bIns="0">
            <a:spAutoFit/>
          </a:bodyPr>
          <a:lstStyle/>
          <a:p>
            <a:pPr>
              <a:defRPr sz="1000" b="1">
                <a:solidFill>
                  <a:srgbClr val="38BDF8"/>
                </a:solidFill>
              </a:defRPr>
            </a:pPr>
            <a:r>
              <a:t>PROYEK 01</a:t>
            </a:r>
          </a:p>
          <a:p>
            <a:pPr>
              <a:spcAft>
                <a:spcPts val="200"/>
              </a:spcAft>
              <a:defRPr sz="1800" b="1">
                <a:solidFill>
                  <a:srgbClr val="FFFFFF"/>
                </a:solidFill>
              </a:defRPr>
            </a:pPr>
            <a:r>
              <a:t>OmniCore AI</a:t>
            </a:r>
          </a:p>
          <a:p>
            <a:pPr>
              <a:spcAft>
                <a:spcPts val="800"/>
              </a:spcAft>
              <a:defRPr sz="1100">
                <a:solidFill>
                  <a:srgbClr val="38BDF8"/>
                </a:solidFill>
              </a:defRPr>
            </a:pPr>
            <a:r>
              <a:t>Omnichannel Conversational Hub</a:t>
            </a:r>
          </a:p>
          <a:p>
            <a:pPr>
              <a:spcAft>
                <a:spcPts val="1200"/>
              </a:spcAft>
              <a:defRPr sz="1100">
                <a:solidFill>
                  <a:srgbClr val="CBD5E1"/>
                </a:solidFill>
              </a:defRPr>
            </a:pPr>
            <a:r>
              <a:t>Platform asisten hibrida yang beroperasi simultan di WhatsApp, Telegram, dan LINE.</a:t>
            </a:r>
          </a:p>
          <a:p>
            <a:pPr>
              <a:spcAft>
                <a:spcPts val="600"/>
              </a:spcAft>
              <a:defRPr sz="1050">
                <a:solidFill>
                  <a:srgbClr val="A0AEC0"/>
                </a:solidFill>
              </a:defRPr>
            </a:pPr>
            <a:r>
              <a:t>•  Adaptive RAG bebas halusinasi berbasis dokumen pengetahuan resmi.</a:t>
            </a:r>
          </a:p>
          <a:p>
            <a:pPr>
              <a:spcAft>
                <a:spcPts val="600"/>
              </a:spcAft>
              <a:defRPr sz="1050">
                <a:solidFill>
                  <a:srgbClr val="A0AEC0"/>
                </a:solidFill>
              </a:defRPr>
            </a:pPr>
            <a:r>
              <a:t>•  Autonomous ETL Google Drive (Spreadsheet, PDF, Docs) ke PostgreSQL JSONB.</a:t>
            </a:r>
          </a:p>
          <a:p>
            <a:pPr>
              <a:spcAft>
                <a:spcPts val="600"/>
              </a:spcAft>
              <a:defRPr sz="1050">
                <a:solidFill>
                  <a:srgbClr val="A0AEC0"/>
                </a:solidFill>
              </a:defRPr>
            </a:pPr>
            <a:r>
              <a:t>•  Hybrid Semantic Vector Search + Real-Time SQL Query aggregation.</a:t>
            </a:r>
          </a:p>
          <a:p>
            <a:pPr>
              <a:spcAft>
                <a:spcPts val="600"/>
              </a:spcAft>
              <a:defRPr sz="1050">
                <a:solidFill>
                  <a:srgbClr val="A0AEC0"/>
                </a:solidFill>
              </a:defRPr>
            </a:pPr>
            <a:r>
              <a:t>•  Interaksi manusiawi dengan realistic typing delay dan read receipts.</a:t>
            </a:r>
          </a:p>
        </p:txBody>
      </p:sp>
      <p:sp>
        <p:nvSpPr>
          <p:cNvPr id="7" name="Rounded Rectangle 6"/>
          <p:cNvSpPr/>
          <p:nvPr/>
        </p:nvSpPr>
        <p:spPr>
          <a:xfrm>
            <a:off x="4434840" y="1645920"/>
            <a:ext cx="342900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1828800"/>
            <a:ext cx="2971800" cy="4297680"/>
          </a:xfrm>
          <a:prstGeom prst="rect">
            <a:avLst/>
          </a:prstGeom>
          <a:noFill/>
        </p:spPr>
        <p:txBody>
          <a:bodyPr wrap="square" lIns="0" tIns="0" rIns="0" bIns="0">
            <a:spAutoFit/>
          </a:bodyPr>
          <a:lstStyle/>
          <a:p>
            <a:pPr>
              <a:defRPr sz="1000" b="1">
                <a:solidFill>
                  <a:srgbClr val="34D399"/>
                </a:solidFill>
              </a:defRPr>
            </a:pPr>
            <a:r>
              <a:t>PROYEK 02</a:t>
            </a:r>
          </a:p>
          <a:p>
            <a:pPr>
              <a:spcAft>
                <a:spcPts val="200"/>
              </a:spcAft>
              <a:defRPr sz="1800" b="1">
                <a:solidFill>
                  <a:srgbClr val="FFFFFF"/>
                </a:solidFill>
              </a:defRPr>
            </a:pPr>
            <a:r>
              <a:t>WhatsApp AI Rental Mobil</a:t>
            </a:r>
          </a:p>
          <a:p>
            <a:pPr>
              <a:spcAft>
                <a:spcPts val="800"/>
              </a:spcAft>
              <a:defRPr sz="1100">
                <a:solidFill>
                  <a:srgbClr val="34D399"/>
                </a:solidFill>
              </a:defRPr>
            </a:pPr>
            <a:r>
              <a:t>Autonomous End-to-End Booking Agent</a:t>
            </a:r>
          </a:p>
          <a:p>
            <a:pPr>
              <a:spcAft>
                <a:spcPts val="1200"/>
              </a:spcAft>
              <a:defRPr sz="1100">
                <a:solidFill>
                  <a:srgbClr val="CBD5E1"/>
                </a:solidFill>
              </a:defRPr>
            </a:pPr>
            <a:r>
              <a:t>Asisten reservasi rental mobil swalayan 24/7 terhubung langsung ke kalender operasional.</a:t>
            </a:r>
          </a:p>
          <a:p>
            <a:pPr>
              <a:spcAft>
                <a:spcPts val="600"/>
              </a:spcAft>
              <a:defRPr sz="1050">
                <a:solidFill>
                  <a:srgbClr val="A0AEC0"/>
                </a:solidFill>
              </a:defRPr>
            </a:pPr>
            <a:r>
              <a:t>•  Pemesanan mandiri tanpa antrean admin WhatsApp 24 jam nonstop.</a:t>
            </a:r>
          </a:p>
          <a:p>
            <a:pPr>
              <a:spcAft>
                <a:spcPts val="600"/>
              </a:spcAft>
              <a:defRPr sz="1050">
                <a:solidFill>
                  <a:srgbClr val="A0AEC0"/>
                </a:solidFill>
              </a:defRPr>
            </a:pPr>
            <a:r>
              <a:t>•  Sinkronisasi real-time Google Calendar mencegah jadwal ganda (anti-double-booking).</a:t>
            </a:r>
          </a:p>
          <a:p>
            <a:pPr>
              <a:spcAft>
                <a:spcPts val="600"/>
              </a:spcAft>
              <a:defRPr sz="1050">
                <a:solidFill>
                  <a:srgbClr val="A0AEC0"/>
                </a:solidFill>
              </a:defRPr>
            </a:pPr>
            <a:r>
              <a:t>•  Multimodal Audio: Menerima Voice Note (Whisper) &amp; membalas Voice Note (TTS).</a:t>
            </a:r>
          </a:p>
          <a:p>
            <a:pPr>
              <a:spcAft>
                <a:spcPts val="600"/>
              </a:spcAft>
              <a:defRPr sz="1050">
                <a:solidFill>
                  <a:srgbClr val="A0AEC0"/>
                </a:solidFill>
              </a:defRPr>
            </a:pPr>
            <a:r>
              <a:t>•  Integrasi Webhook Payment Gateway &amp; Auto-Cancel otomatis pesanan kedaluwarsa.</a:t>
            </a:r>
          </a:p>
        </p:txBody>
      </p:sp>
      <p:sp>
        <p:nvSpPr>
          <p:cNvPr id="9" name="Rounded Rectangle 8"/>
          <p:cNvSpPr/>
          <p:nvPr/>
        </p:nvSpPr>
        <p:spPr>
          <a:xfrm>
            <a:off x="8138160" y="1645920"/>
            <a:ext cx="342900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60" y="1828800"/>
            <a:ext cx="2971800" cy="4297680"/>
          </a:xfrm>
          <a:prstGeom prst="rect">
            <a:avLst/>
          </a:prstGeom>
          <a:noFill/>
        </p:spPr>
        <p:txBody>
          <a:bodyPr wrap="square" lIns="0" tIns="0" rIns="0" bIns="0">
            <a:spAutoFit/>
          </a:bodyPr>
          <a:lstStyle/>
          <a:p>
            <a:pPr>
              <a:defRPr sz="1000" b="1">
                <a:solidFill>
                  <a:srgbClr val="A855F7"/>
                </a:solidFill>
              </a:defRPr>
            </a:pPr>
            <a:r>
              <a:t>PROYEK 03</a:t>
            </a:r>
          </a:p>
          <a:p>
            <a:pPr>
              <a:spcAft>
                <a:spcPts val="200"/>
              </a:spcAft>
              <a:defRPr sz="1800" b="1">
                <a:solidFill>
                  <a:srgbClr val="FFFFFF"/>
                </a:solidFill>
              </a:defRPr>
            </a:pPr>
            <a:r>
              <a:t>WhatsApp RAG AI Assistant</a:t>
            </a:r>
          </a:p>
          <a:p>
            <a:pPr>
              <a:spcAft>
                <a:spcPts val="800"/>
              </a:spcAft>
              <a:defRPr sz="1100">
                <a:solidFill>
                  <a:srgbClr val="A855F7"/>
                </a:solidFill>
              </a:defRPr>
            </a:pPr>
            <a:r>
              <a:t>Academic Knowledge Retrieval Bot</a:t>
            </a:r>
          </a:p>
          <a:p>
            <a:pPr>
              <a:spcAft>
                <a:spcPts val="1200"/>
              </a:spcAft>
              <a:defRPr sz="1100">
                <a:solidFill>
                  <a:srgbClr val="CBD5E1"/>
                </a:solidFill>
              </a:defRPr>
            </a:pPr>
            <a:r>
              <a:t>Chatbot cerdas penjawab regulasi akademik &amp; kemahasiswaan berbasis basis data vektor.</a:t>
            </a:r>
          </a:p>
          <a:p>
            <a:pPr>
              <a:spcAft>
                <a:spcPts val="600"/>
              </a:spcAft>
              <a:defRPr sz="1050">
                <a:solidFill>
                  <a:srgbClr val="A0AEC0"/>
                </a:solidFill>
              </a:defRPr>
            </a:pPr>
            <a:r>
              <a:t>•  Menggantikan pencarian manual ratusan halaman buku panduan kampus.</a:t>
            </a:r>
          </a:p>
          <a:p>
            <a:pPr>
              <a:spcAft>
                <a:spcPts val="600"/>
              </a:spcAft>
              <a:defRPr sz="1050">
                <a:solidFill>
                  <a:srgbClr val="A0AEC0"/>
                </a:solidFill>
              </a:defRPr>
            </a:pPr>
            <a:r>
              <a:t>•  Pipeline RAG: Chunking dokumen -&gt; OpenAI Embeddings -&gt; Supabase pgvector.</a:t>
            </a:r>
          </a:p>
          <a:p>
            <a:pPr>
              <a:spcAft>
                <a:spcPts val="600"/>
              </a:spcAft>
              <a:defRPr sz="1050">
                <a:solidFill>
                  <a:srgbClr val="A0AEC0"/>
                </a:solidFill>
              </a:defRPr>
            </a:pPr>
            <a:r>
              <a:t>•  Pencarian Cosine Similarity berakurasi tinggi dengan sumber jawaban tervalidasi.</a:t>
            </a:r>
          </a:p>
          <a:p>
            <a:pPr>
              <a:spcAft>
                <a:spcPts val="600"/>
              </a:spcAft>
              <a:defRPr sz="1050">
                <a:solidFill>
                  <a:srgbClr val="A0AEC0"/>
                </a:solidFill>
              </a:defRPr>
            </a:pPr>
            <a:r>
              <a:t>•  Akses mobile tanpa hambatan langsung dari aplikasi WhatsApp mahasiswa.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38BDF8"/>
                </a:solidFill>
              </a:defRPr>
            </a:pPr>
            <a:r>
              <a:t>ARSITEKTUR TEKNOLOGI</a:t>
            </a:r>
          </a:p>
        </p:txBody>
      </p:sp>
      <p:sp>
        <p:nvSpPr>
          <p:cNvPr id="4" name="TextBox 3"/>
          <p:cNvSpPr txBox="1"/>
          <p:nvPr/>
        </p:nvSpPr>
        <p:spPr>
          <a:xfrm>
            <a:off x="731520" y="777240"/>
            <a:ext cx="10698480" cy="640080"/>
          </a:xfrm>
          <a:prstGeom prst="rect">
            <a:avLst/>
          </a:prstGeom>
          <a:noFill/>
        </p:spPr>
        <p:txBody>
          <a:bodyPr wrap="square" lIns="0" tIns="0" rIns="0" bIns="0">
            <a:spAutoFit/>
          </a:bodyPr>
          <a:lstStyle/>
          <a:p>
            <a:pPr>
              <a:defRPr sz="2200" b="1">
                <a:solidFill>
                  <a:srgbClr val="FFFFFF"/>
                </a:solidFill>
              </a:defRPr>
            </a:pPr>
            <a:r>
              <a:t>Framework &amp; Komponen Ekosistem Otomasi</a:t>
            </a:r>
          </a:p>
        </p:txBody>
      </p:sp>
      <p:sp>
        <p:nvSpPr>
          <p:cNvPr id="5" name="Rounded Rectangle 4"/>
          <p:cNvSpPr/>
          <p:nvPr/>
        </p:nvSpPr>
        <p:spPr>
          <a:xfrm>
            <a:off x="731520" y="1645920"/>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0149840" cy="868680"/>
          </a:xfrm>
          <a:prstGeom prst="rect">
            <a:avLst/>
          </a:prstGeom>
          <a:noFill/>
        </p:spPr>
        <p:txBody>
          <a:bodyPr wrap="square" lIns="0" tIns="0" rIns="0" bIns="0">
            <a:spAutoFit/>
          </a:bodyPr>
          <a:lstStyle/>
          <a:p>
            <a:pPr>
              <a:defRPr sz="1000" b="1">
                <a:solidFill>
                  <a:srgbClr val="38BDF8"/>
                </a:solidFill>
              </a:defRPr>
            </a:pPr>
            <a:r>
              <a:t>LAYER 1: USER CHANNELS &amp; MESSAGING GATEWAY</a:t>
            </a:r>
          </a:p>
          <a:p>
            <a:pPr>
              <a:spcAft>
                <a:spcPts val="200"/>
              </a:spcAft>
              <a:defRPr sz="1300" b="1">
                <a:solidFill>
                  <a:srgbClr val="FFFFFF"/>
                </a:solidFill>
              </a:defRPr>
            </a:pPr>
            <a:r>
              <a:t>WhatsApp (WAHA / WhatsApp Cloud API), Telegram Bot API, LINE Messaging API</a:t>
            </a:r>
          </a:p>
          <a:p>
            <a:pPr>
              <a:defRPr sz="1050">
                <a:solidFill>
                  <a:srgbClr val="A0AEC0"/>
                </a:solidFill>
              </a:defRPr>
            </a:pPr>
            <a:r>
              <a:t>Menjembatani pesan masuk dari pengguna di platform pesan instan paling populer secara real-time via Webhook.</a:t>
            </a:r>
          </a:p>
        </p:txBody>
      </p:sp>
      <p:sp>
        <p:nvSpPr>
          <p:cNvPr id="7" name="Rounded Rectangle 6"/>
          <p:cNvSpPr/>
          <p:nvPr/>
        </p:nvSpPr>
        <p:spPr>
          <a:xfrm>
            <a:off x="731520" y="2816352"/>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926080"/>
            <a:ext cx="10149840" cy="868680"/>
          </a:xfrm>
          <a:prstGeom prst="rect">
            <a:avLst/>
          </a:prstGeom>
          <a:noFill/>
        </p:spPr>
        <p:txBody>
          <a:bodyPr wrap="square" lIns="0" tIns="0" rIns="0" bIns="0">
            <a:spAutoFit/>
          </a:bodyPr>
          <a:lstStyle/>
          <a:p>
            <a:pPr>
              <a:defRPr sz="1000" b="1">
                <a:solidFill>
                  <a:srgbClr val="38BDF8"/>
                </a:solidFill>
              </a:defRPr>
            </a:pPr>
            <a:r>
              <a:t>LAYER 2: WORKFLOW ORCHESTRATION &amp; AGENTIC LOGIC</a:t>
            </a:r>
          </a:p>
          <a:p>
            <a:pPr>
              <a:spcAft>
                <a:spcPts val="200"/>
              </a:spcAft>
              <a:defRPr sz="1300" b="1">
                <a:solidFill>
                  <a:srgbClr val="FFFFFF"/>
                </a:solidFill>
              </a:defRPr>
            </a:pPr>
            <a:r>
              <a:t>n8n Workflow Automation Platform &amp; LangChain Agents</a:t>
            </a:r>
          </a:p>
          <a:p>
            <a:pPr>
              <a:defRPr sz="1050">
                <a:solidFill>
                  <a:srgbClr val="A0AEC0"/>
                </a:solidFill>
              </a:defRPr>
            </a:pPr>
            <a:r>
              <a:t>Mengatur alur logika dinamis, routing percakapan, memory management, tool execution, dan automasi pemanggilan API.</a:t>
            </a:r>
          </a:p>
        </p:txBody>
      </p:sp>
      <p:sp>
        <p:nvSpPr>
          <p:cNvPr id="9" name="Rounded Rectangle 8"/>
          <p:cNvSpPr/>
          <p:nvPr/>
        </p:nvSpPr>
        <p:spPr>
          <a:xfrm>
            <a:off x="731520" y="3986784"/>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96512"/>
            <a:ext cx="10149840" cy="868680"/>
          </a:xfrm>
          <a:prstGeom prst="rect">
            <a:avLst/>
          </a:prstGeom>
          <a:noFill/>
        </p:spPr>
        <p:txBody>
          <a:bodyPr wrap="square" lIns="0" tIns="0" rIns="0" bIns="0">
            <a:spAutoFit/>
          </a:bodyPr>
          <a:lstStyle/>
          <a:p>
            <a:pPr>
              <a:defRPr sz="1000" b="1">
                <a:solidFill>
                  <a:srgbClr val="38BDF8"/>
                </a:solidFill>
              </a:defRPr>
            </a:pPr>
            <a:r>
              <a:t>LAYER 3: HYBRID AI ENGINE &amp; MULTIMODAL INFERENCE</a:t>
            </a:r>
          </a:p>
          <a:p>
            <a:pPr>
              <a:spcAft>
                <a:spcPts val="200"/>
              </a:spcAft>
              <a:defRPr sz="1300" b="1">
                <a:solidFill>
                  <a:srgbClr val="FFFFFF"/>
                </a:solidFill>
              </a:defRPr>
            </a:pPr>
            <a:r>
              <a:t>Google Gemini 1.5/2.0 Flash, OpenAI GPT-4o, OpenAI Whisper (Speech-to-Text) &amp; TTS (Text-to-Speech)</a:t>
            </a:r>
          </a:p>
          <a:p>
            <a:pPr>
              <a:defRPr sz="1050">
                <a:solidFill>
                  <a:srgbClr val="A0AEC0"/>
                </a:solidFill>
              </a:defRPr>
            </a:pPr>
            <a:r>
              <a:t>Memberikan pemahaman bahasa alami (NLU), transkripsi pesan suara, sintesis audio, dan inferensi berbasis guardrails.</a:t>
            </a:r>
          </a:p>
        </p:txBody>
      </p:sp>
      <p:sp>
        <p:nvSpPr>
          <p:cNvPr id="11" name="Rounded Rectangle 10"/>
          <p:cNvSpPr/>
          <p:nvPr/>
        </p:nvSpPr>
        <p:spPr>
          <a:xfrm>
            <a:off x="731520" y="5157216"/>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266944"/>
            <a:ext cx="10149840" cy="868680"/>
          </a:xfrm>
          <a:prstGeom prst="rect">
            <a:avLst/>
          </a:prstGeom>
          <a:noFill/>
        </p:spPr>
        <p:txBody>
          <a:bodyPr wrap="square" lIns="0" tIns="0" rIns="0" bIns="0">
            <a:spAutoFit/>
          </a:bodyPr>
          <a:lstStyle/>
          <a:p>
            <a:pPr>
              <a:defRPr sz="1000" b="1">
                <a:solidFill>
                  <a:srgbClr val="38BDF8"/>
                </a:solidFill>
              </a:defRPr>
            </a:pPr>
            <a:r>
              <a:t>LAYER 4: RETRIEVAL-AUGMENTED GENERATION (RAG) &amp; STORAGE</a:t>
            </a:r>
          </a:p>
          <a:p>
            <a:pPr>
              <a:spcAft>
                <a:spcPts val="200"/>
              </a:spcAft>
              <a:defRPr sz="1300" b="1">
                <a:solidFill>
                  <a:srgbClr val="FFFFFF"/>
                </a:solidFill>
              </a:defRPr>
            </a:pPr>
            <a:r>
              <a:t>Supabase (pgvector), PostgreSQL, Google Drive API, Google Calendar API, Google Sheets</a:t>
            </a:r>
          </a:p>
          <a:p>
            <a:pPr>
              <a:defRPr sz="1050">
                <a:solidFill>
                  <a:srgbClr val="A0AEC0"/>
                </a:solidFill>
              </a:defRPr>
            </a:pPr>
            <a:r>
              <a:t>Menyimpan embedding pengetahuan, query SQL tabular, manajemen jadwal ketersediaan armada, dan basis data transaksi.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38BDF8"/>
                </a:solidFill>
              </a:defRPr>
            </a:pPr>
            <a:r>
              <a:t>PROYEK 01: OMNICORE AI</a:t>
            </a:r>
          </a:p>
        </p:txBody>
      </p:sp>
      <p:sp>
        <p:nvSpPr>
          <p:cNvPr id="4" name="TextBox 3"/>
          <p:cNvSpPr txBox="1"/>
          <p:nvPr/>
        </p:nvSpPr>
        <p:spPr>
          <a:xfrm>
            <a:off x="731520" y="777240"/>
            <a:ext cx="10698480" cy="640080"/>
          </a:xfrm>
          <a:prstGeom prst="rect">
            <a:avLst/>
          </a:prstGeom>
          <a:noFill/>
        </p:spPr>
        <p:txBody>
          <a:bodyPr wrap="square" lIns="0" tIns="0" rIns="0" bIns="0">
            <a:spAutoFit/>
          </a:bodyPr>
          <a:lstStyle/>
          <a:p>
            <a:pPr>
              <a:defRPr sz="2200" b="1">
                <a:solidFill>
                  <a:srgbClr val="FFFFFF"/>
                </a:solidFill>
              </a:defRPr>
            </a:pPr>
            <a:r>
              <a:t>Asisten Omnichannel Cerdas 24/7 Berbasis RAG &amp; SQL Tabular</a:t>
            </a:r>
          </a:p>
        </p:txBody>
      </p:sp>
      <p:sp>
        <p:nvSpPr>
          <p:cNvPr id="5" name="Rounded Rectangle 4"/>
          <p:cNvSpPr/>
          <p:nvPr/>
        </p:nvSpPr>
        <p:spPr>
          <a:xfrm>
            <a:off x="731520" y="1645920"/>
            <a:ext cx="621792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5669280" cy="4297680"/>
          </a:xfrm>
          <a:prstGeom prst="rect">
            <a:avLst/>
          </a:prstGeom>
          <a:noFill/>
        </p:spPr>
        <p:txBody>
          <a:bodyPr wrap="square" lIns="0" tIns="0" rIns="0" bIns="0">
            <a:spAutoFit/>
          </a:bodyPr>
          <a:lstStyle/>
          <a:p>
            <a:pPr>
              <a:defRPr sz="1100" b="1">
                <a:solidFill>
                  <a:srgbClr val="38BDF8"/>
                </a:solidFill>
              </a:defRPr>
            </a:pPr>
            <a:r>
              <a:t>LATAR BELAKANG &amp; TANTANGAN BISNIS</a:t>
            </a:r>
          </a:p>
          <a:p>
            <a:pPr>
              <a:spcAft>
                <a:spcPts val="1000"/>
              </a:spcAft>
              <a:defRPr sz="1150">
                <a:solidFill>
                  <a:srgbClr val="CBD5E1"/>
                </a:solidFill>
              </a:defRPr>
            </a:pPr>
            <a:r>
              <a:t>Komunikasi pelanggan sering tersebar di berbagai aplikasi pesan (WhatsApp, Telegram, LINE). Admin sering kewalahan menjawab pertanyaan berulang, terjadi keterlambatan respon di luar jam kerja, serta risiko tinggi halusinasi jawaban jika menggunakan chatbot generatif standar.</a:t>
            </a:r>
          </a:p>
          <a:p>
            <a:pPr>
              <a:defRPr sz="1100" b="1">
                <a:solidFill>
                  <a:srgbClr val="34D399"/>
                </a:solidFill>
              </a:defRPr>
            </a:pPr>
            <a:r>
              <a:t>SOLUSI YANG DIKEMBANGKAN</a:t>
            </a:r>
          </a:p>
          <a:p>
            <a:pPr>
              <a:spcAft>
                <a:spcPts val="500"/>
              </a:spcAft>
              <a:defRPr sz="1050">
                <a:solidFill>
                  <a:srgbClr val="A0AEC0"/>
                </a:solidFill>
              </a:defRPr>
            </a:pPr>
            <a:r>
              <a:t>✔  Satu Otak, Tiga Saluran: Mengintegrasikan WhatsApp (WAHA), Telegram Bot, dan LINE Messaging API ke satu alur orkestrasi n8n terpusat.</a:t>
            </a:r>
          </a:p>
          <a:p>
            <a:pPr>
              <a:spcAft>
                <a:spcPts val="500"/>
              </a:spcAft>
              <a:defRPr sz="1050">
                <a:solidFill>
                  <a:srgbClr val="A0AEC0"/>
                </a:solidFill>
              </a:defRPr>
            </a:pPr>
            <a:r>
              <a:t>✔  Adaptive RAG (Anti-Halusinasi): Jawaban hanya diambil dari dokumen resmi yang diindeks dalam Supabase pgvector.</a:t>
            </a:r>
          </a:p>
          <a:p>
            <a:pPr>
              <a:spcAft>
                <a:spcPts val="500"/>
              </a:spcAft>
              <a:defRPr sz="1050">
                <a:solidFill>
                  <a:srgbClr val="A0AEC0"/>
                </a:solidFill>
              </a:defRPr>
            </a:pPr>
            <a:r>
              <a:t>✔  Autonomous Google Drive Ingestion: Alur otomatis mengekstrak dokumen baru (Excel, PDF, Docs) di Google Drive ke PostgreSQL secara berkala.</a:t>
            </a:r>
          </a:p>
          <a:p>
            <a:pPr>
              <a:spcAft>
                <a:spcPts val="500"/>
              </a:spcAft>
              <a:defRPr sz="1050">
                <a:solidFill>
                  <a:srgbClr val="A0AEC0"/>
                </a:solidFill>
              </a:defRPr>
            </a:pPr>
            <a:r>
              <a:t>✔  Pencarian Gabungan (Hybrid Search): Memadukan pencarian semantik teks dengan query SQL dinamis untuk membaca data tabel (harga, jadwal, daftar inventaris).</a:t>
            </a:r>
          </a:p>
        </p:txBody>
      </p:sp>
      <p:sp>
        <p:nvSpPr>
          <p:cNvPr id="7" name="Rounded Rectangle 6"/>
          <p:cNvSpPr/>
          <p:nvPr/>
        </p:nvSpPr>
        <p:spPr>
          <a:xfrm>
            <a:off x="7223760" y="1645920"/>
            <a:ext cx="420624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06640" y="1828800"/>
            <a:ext cx="3840480" cy="5120640"/>
          </a:xfrm>
          <a:prstGeom prst="rect">
            <a:avLst/>
          </a:prstGeom>
        </p:spPr>
      </p:pic>
      <p:sp>
        <p:nvSpPr>
          <p:cNvPr id="9" name="TextBox 8"/>
          <p:cNvSpPr txBox="1"/>
          <p:nvPr/>
        </p:nvSpPr>
        <p:spPr>
          <a:xfrm>
            <a:off x="7406640" y="5760720"/>
            <a:ext cx="3840480" cy="457200"/>
          </a:xfrm>
          <a:prstGeom prst="rect">
            <a:avLst/>
          </a:prstGeom>
          <a:noFill/>
        </p:spPr>
        <p:txBody>
          <a:bodyPr wrap="square">
            <a:spAutoFit/>
          </a:bodyPr>
          <a:lstStyle/>
          <a:p>
            <a:pPr algn="ctr">
              <a:defRPr sz="950">
                <a:solidFill>
                  <a:srgbClr val="A0AEC0"/>
                </a:solidFill>
              </a:defRPr>
            </a:pPr>
            <a:r>
              <a:t>Antarmuka alur kerja &amp; interaksi asisten OmniCore 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38BDF8"/>
                </a:solidFill>
              </a:defRPr>
            </a:pPr>
            <a:r>
              <a:t>PROYEK 01: OMNICORE AI</a:t>
            </a:r>
          </a:p>
        </p:txBody>
      </p:sp>
      <p:sp>
        <p:nvSpPr>
          <p:cNvPr id="4" name="TextBox 3"/>
          <p:cNvSpPr txBox="1"/>
          <p:nvPr/>
        </p:nvSpPr>
        <p:spPr>
          <a:xfrm>
            <a:off x="731520" y="777240"/>
            <a:ext cx="10698480" cy="640080"/>
          </a:xfrm>
          <a:prstGeom prst="rect">
            <a:avLst/>
          </a:prstGeom>
          <a:noFill/>
        </p:spPr>
        <p:txBody>
          <a:bodyPr wrap="square" lIns="0" tIns="0" rIns="0" bIns="0">
            <a:spAutoFit/>
          </a:bodyPr>
          <a:lstStyle/>
          <a:p>
            <a:pPr>
              <a:defRPr sz="2200" b="1">
                <a:solidFill>
                  <a:srgbClr val="FFFFFF"/>
                </a:solidFill>
              </a:defRPr>
            </a:pPr>
            <a:r>
              <a:t>Arsitektur Alur Kerja n8n &amp; Pipeline Hybrid Retrieval</a:t>
            </a:r>
          </a:p>
        </p:txBody>
      </p:sp>
      <p:sp>
        <p:nvSpPr>
          <p:cNvPr id="5" name="Rounded Rectangle 4"/>
          <p:cNvSpPr/>
          <p:nvPr/>
        </p:nvSpPr>
        <p:spPr>
          <a:xfrm>
            <a:off x="731520"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176272" cy="4297680"/>
          </a:xfrm>
          <a:prstGeom prst="rect">
            <a:avLst/>
          </a:prstGeom>
          <a:noFill/>
        </p:spPr>
        <p:txBody>
          <a:bodyPr wrap="square" lIns="0" tIns="0" rIns="0" bIns="0">
            <a:spAutoFit/>
          </a:bodyPr>
          <a:lstStyle/>
          <a:p>
            <a:pPr>
              <a:defRPr sz="2800" b="1">
                <a:solidFill>
                  <a:srgbClr val="38BDF8"/>
                </a:solidFill>
              </a:defRPr>
            </a:pPr>
            <a:r>
              <a:t>01</a:t>
            </a:r>
          </a:p>
          <a:p>
            <a:pPr>
              <a:spcAft>
                <a:spcPts val="1200"/>
              </a:spcAft>
              <a:defRPr sz="1400" b="1">
                <a:solidFill>
                  <a:srgbClr val="FFFFFF"/>
                </a:solidFill>
              </a:defRPr>
            </a:pPr>
            <a:r>
              <a:t>Ingestion &amp; ETL Pipeline</a:t>
            </a:r>
          </a:p>
          <a:p>
            <a:pPr>
              <a:spcAft>
                <a:spcPts val="800"/>
              </a:spcAft>
              <a:defRPr sz="1050">
                <a:solidFill>
                  <a:srgbClr val="CBD5E1"/>
                </a:solidFill>
              </a:defRPr>
            </a:pPr>
            <a:r>
              <a:t>• Google Drive Webhook mendeteksi upload dokumen (Excel/CSV/PDF).</a:t>
            </a:r>
          </a:p>
          <a:p>
            <a:pPr>
              <a:spcAft>
                <a:spcPts val="800"/>
              </a:spcAft>
              <a:defRPr sz="1050">
                <a:solidFill>
                  <a:srgbClr val="CBD5E1"/>
                </a:solidFill>
              </a:defRPr>
            </a:pPr>
            <a:r>
              <a:t>• Data tabel diparsing ke PostgreSQL baris JSONB.</a:t>
            </a:r>
          </a:p>
          <a:p>
            <a:pPr>
              <a:spcAft>
                <a:spcPts val="800"/>
              </a:spcAft>
              <a:defRPr sz="1050">
                <a:solidFill>
                  <a:srgbClr val="CBD5E1"/>
                </a:solidFill>
              </a:defRPr>
            </a:pPr>
            <a:r>
              <a:t>• Teks naratif di-chunk dan diubah ke vektor embedding melalui OpenAI/Gemini.</a:t>
            </a:r>
          </a:p>
        </p:txBody>
      </p:sp>
      <p:sp>
        <p:nvSpPr>
          <p:cNvPr id="7" name="Rounded Rectangle 6"/>
          <p:cNvSpPr/>
          <p:nvPr/>
        </p:nvSpPr>
        <p:spPr>
          <a:xfrm>
            <a:off x="3456432"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1828800"/>
            <a:ext cx="2176272" cy="4297680"/>
          </a:xfrm>
          <a:prstGeom prst="rect">
            <a:avLst/>
          </a:prstGeom>
          <a:noFill/>
        </p:spPr>
        <p:txBody>
          <a:bodyPr wrap="square" lIns="0" tIns="0" rIns="0" bIns="0">
            <a:spAutoFit/>
          </a:bodyPr>
          <a:lstStyle/>
          <a:p>
            <a:pPr>
              <a:defRPr sz="2800" b="1">
                <a:solidFill>
                  <a:srgbClr val="38BDF8"/>
                </a:solidFill>
              </a:defRPr>
            </a:pPr>
            <a:r>
              <a:t>02</a:t>
            </a:r>
          </a:p>
          <a:p>
            <a:pPr>
              <a:spcAft>
                <a:spcPts val="1200"/>
              </a:spcAft>
              <a:defRPr sz="1400" b="1">
                <a:solidFill>
                  <a:srgbClr val="FFFFFF"/>
                </a:solidFill>
              </a:defRPr>
            </a:pPr>
            <a:r>
              <a:t>Omnichannel Router</a:t>
            </a:r>
          </a:p>
          <a:p>
            <a:pPr>
              <a:spcAft>
                <a:spcPts val="800"/>
              </a:spcAft>
              <a:defRPr sz="1050">
                <a:solidFill>
                  <a:srgbClr val="CBD5E1"/>
                </a:solidFill>
              </a:defRPr>
            </a:pPr>
            <a:r>
              <a:t>• Menerima webhook dari WhatsApp (WAHA), Telegram, atau LINE.</a:t>
            </a:r>
          </a:p>
          <a:p>
            <a:pPr>
              <a:spcAft>
                <a:spcPts val="800"/>
              </a:spcAft>
              <a:defRPr sz="1050">
                <a:solidFill>
                  <a:srgbClr val="CBD5E1"/>
                </a:solidFill>
              </a:defRPr>
            </a:pPr>
            <a:r>
              <a:t>• Normalisasi format pesan, ID pengguna, dan sesi percakapan.</a:t>
            </a:r>
          </a:p>
          <a:p>
            <a:pPr>
              <a:spcAft>
                <a:spcPts val="800"/>
              </a:spcAft>
              <a:defRPr sz="1050">
                <a:solidFill>
                  <a:srgbClr val="CBD5E1"/>
                </a:solidFill>
              </a:defRPr>
            </a:pPr>
            <a:r>
              <a:t>• Mengaktifkan indikator status 'typing' realistis dan read receipt.</a:t>
            </a:r>
          </a:p>
        </p:txBody>
      </p:sp>
      <p:sp>
        <p:nvSpPr>
          <p:cNvPr id="9" name="Rounded Rectangle 8"/>
          <p:cNvSpPr/>
          <p:nvPr/>
        </p:nvSpPr>
        <p:spPr>
          <a:xfrm>
            <a:off x="6181344"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828800"/>
            <a:ext cx="2176272" cy="4297680"/>
          </a:xfrm>
          <a:prstGeom prst="rect">
            <a:avLst/>
          </a:prstGeom>
          <a:noFill/>
        </p:spPr>
        <p:txBody>
          <a:bodyPr wrap="square" lIns="0" tIns="0" rIns="0" bIns="0">
            <a:spAutoFit/>
          </a:bodyPr>
          <a:lstStyle/>
          <a:p>
            <a:pPr>
              <a:defRPr sz="2800" b="1">
                <a:solidFill>
                  <a:srgbClr val="38BDF8"/>
                </a:solidFill>
              </a:defRPr>
            </a:pPr>
            <a:r>
              <a:t>03</a:t>
            </a:r>
          </a:p>
          <a:p>
            <a:pPr>
              <a:spcAft>
                <a:spcPts val="1200"/>
              </a:spcAft>
              <a:defRPr sz="1400" b="1">
                <a:solidFill>
                  <a:srgbClr val="FFFFFF"/>
                </a:solidFill>
              </a:defRPr>
            </a:pPr>
            <a:r>
              <a:t>Hybrid Query Processor</a:t>
            </a:r>
          </a:p>
          <a:p>
            <a:pPr>
              <a:spcAft>
                <a:spcPts val="800"/>
              </a:spcAft>
              <a:defRPr sz="1050">
                <a:solidFill>
                  <a:srgbClr val="CBD5E1"/>
                </a:solidFill>
              </a:defRPr>
            </a:pPr>
            <a:r>
              <a:t>• Klasifikasi niat (Intent Classifier): Tanya informasi naratif vs Cek data tabel.</a:t>
            </a:r>
          </a:p>
          <a:p>
            <a:pPr>
              <a:spcAft>
                <a:spcPts val="800"/>
              </a:spcAft>
              <a:defRPr sz="1050">
                <a:solidFill>
                  <a:srgbClr val="CBD5E1"/>
                </a:solidFill>
              </a:defRPr>
            </a:pPr>
            <a:r>
              <a:t>• Semantic Search: Cosine similarity via Supabase pgvector.</a:t>
            </a:r>
          </a:p>
          <a:p>
            <a:pPr>
              <a:spcAft>
                <a:spcPts val="800"/>
              </a:spcAft>
              <a:defRPr sz="1050">
                <a:solidFill>
                  <a:srgbClr val="CBD5E1"/>
                </a:solidFill>
              </a:defRPr>
            </a:pPr>
            <a:r>
              <a:t>• SQL Engine: Dynamic parameterized SQL untuk perhitungan angka/tabel.</a:t>
            </a:r>
          </a:p>
        </p:txBody>
      </p:sp>
      <p:sp>
        <p:nvSpPr>
          <p:cNvPr id="11" name="Rounded Rectangle 10"/>
          <p:cNvSpPr/>
          <p:nvPr/>
        </p:nvSpPr>
        <p:spPr>
          <a:xfrm>
            <a:off x="8906256"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9136" y="1828800"/>
            <a:ext cx="2176272" cy="4297680"/>
          </a:xfrm>
          <a:prstGeom prst="rect">
            <a:avLst/>
          </a:prstGeom>
          <a:noFill/>
        </p:spPr>
        <p:txBody>
          <a:bodyPr wrap="square" lIns="0" tIns="0" rIns="0" bIns="0">
            <a:spAutoFit/>
          </a:bodyPr>
          <a:lstStyle/>
          <a:p>
            <a:pPr>
              <a:defRPr sz="2800" b="1">
                <a:solidFill>
                  <a:srgbClr val="38BDF8"/>
                </a:solidFill>
              </a:defRPr>
            </a:pPr>
            <a:r>
              <a:t>04</a:t>
            </a:r>
          </a:p>
          <a:p>
            <a:pPr>
              <a:spcAft>
                <a:spcPts val="1200"/>
              </a:spcAft>
              <a:defRPr sz="1400" b="1">
                <a:solidFill>
                  <a:srgbClr val="FFFFFF"/>
                </a:solidFill>
              </a:defRPr>
            </a:pPr>
            <a:r>
              <a:t>Grounded Response Generator</a:t>
            </a:r>
          </a:p>
          <a:p>
            <a:pPr>
              <a:spcAft>
                <a:spcPts val="800"/>
              </a:spcAft>
              <a:defRPr sz="1050">
                <a:solidFill>
                  <a:srgbClr val="CBD5E1"/>
                </a:solidFill>
              </a:defRPr>
            </a:pPr>
            <a:r>
              <a:t>• Penggabungan konteks tervalidasi ke dalam prompt LLM.</a:t>
            </a:r>
          </a:p>
          <a:p>
            <a:pPr>
              <a:spcAft>
                <a:spcPts val="800"/>
              </a:spcAft>
              <a:defRPr sz="1050">
                <a:solidFill>
                  <a:srgbClr val="CBD5E1"/>
                </a:solidFill>
              </a:defRPr>
            </a:pPr>
            <a:r>
              <a:t>• Guardrail anti-halusinasi: menolak menjawab jika info tidak ada di database.</a:t>
            </a:r>
          </a:p>
          <a:p>
            <a:pPr>
              <a:spcAft>
                <a:spcPts val="800"/>
              </a:spcAft>
              <a:defRPr sz="1050">
                <a:solidFill>
                  <a:srgbClr val="CBD5E1"/>
                </a:solidFill>
              </a:defRPr>
            </a:pPr>
            <a:r>
              <a:t>• Mengirim respons rapi ke pengguna di channel asalnya.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34D399"/>
                </a:solidFill>
              </a:defRPr>
            </a:pPr>
            <a:r>
              <a:t>PROYEK 02: WHATSAPP AI RENTAL MOBIL</a:t>
            </a:r>
          </a:p>
        </p:txBody>
      </p:sp>
      <p:sp>
        <p:nvSpPr>
          <p:cNvPr id="4" name="TextBox 3"/>
          <p:cNvSpPr txBox="1"/>
          <p:nvPr/>
        </p:nvSpPr>
        <p:spPr>
          <a:xfrm>
            <a:off x="731520" y="777240"/>
            <a:ext cx="10698480" cy="640080"/>
          </a:xfrm>
          <a:prstGeom prst="rect">
            <a:avLst/>
          </a:prstGeom>
          <a:noFill/>
        </p:spPr>
        <p:txBody>
          <a:bodyPr wrap="square" lIns="0" tIns="0" rIns="0" bIns="0">
            <a:spAutoFit/>
          </a:bodyPr>
          <a:lstStyle/>
          <a:p>
            <a:pPr>
              <a:defRPr sz="2200" b="1">
                <a:solidFill>
                  <a:srgbClr val="FFFFFF"/>
                </a:solidFill>
              </a:defRPr>
            </a:pPr>
            <a:r>
              <a:t>Otomasi Reservasi Rental Mobil Mandiri 24/7 Berbasis AI Agent</a:t>
            </a:r>
          </a:p>
        </p:txBody>
      </p:sp>
      <p:sp>
        <p:nvSpPr>
          <p:cNvPr id="5" name="Rounded Rectangle 4"/>
          <p:cNvSpPr/>
          <p:nvPr/>
        </p:nvSpPr>
        <p:spPr>
          <a:xfrm>
            <a:off x="731520" y="1645920"/>
            <a:ext cx="621792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5669280" cy="4297680"/>
          </a:xfrm>
          <a:prstGeom prst="rect">
            <a:avLst/>
          </a:prstGeom>
          <a:noFill/>
        </p:spPr>
        <p:txBody>
          <a:bodyPr wrap="square" lIns="0" tIns="0" rIns="0" bIns="0">
            <a:spAutoFit/>
          </a:bodyPr>
          <a:lstStyle/>
          <a:p>
            <a:pPr>
              <a:defRPr sz="1100" b="1">
                <a:solidFill>
                  <a:srgbClr val="34D399"/>
                </a:solidFill>
              </a:defRPr>
            </a:pPr>
            <a:r>
              <a:t>MASALAH OPERASIONAL RENTAL MOBIL KONVENSIONAL</a:t>
            </a:r>
          </a:p>
          <a:p>
            <a:pPr>
              <a:spcAft>
                <a:spcPts val="1000"/>
              </a:spcAft>
              <a:defRPr sz="1150">
                <a:solidFill>
                  <a:srgbClr val="CBD5E1"/>
                </a:solidFill>
              </a:defRPr>
            </a:pPr>
            <a:r>
              <a:t>Bisnis rental mobil konvensional bergantung pada admin manual untuk membalas chat WhatsApp. Kendala fatal yang sering terjadi: lambat merespon pemesanan di luar jam kantor, sering salah catat jadwal berujung double-booking armada, perhitungan DP dan biaya supir yang keliru, serta booking gantung yang tidak dibayar.</a:t>
            </a:r>
          </a:p>
          <a:p>
            <a:pPr>
              <a:defRPr sz="1100" b="1">
                <a:solidFill>
                  <a:srgbClr val="38BDF8"/>
                </a:solidFill>
              </a:defRPr>
            </a:pPr>
            <a:r>
              <a:t>SOLUSI YANG DIBANGUN DENGAN N8N &amp; LANGCHAIN</a:t>
            </a:r>
          </a:p>
          <a:p>
            <a:pPr>
              <a:spcAft>
                <a:spcPts val="500"/>
              </a:spcAft>
              <a:defRPr sz="1050">
                <a:solidFill>
                  <a:srgbClr val="A0AEC0"/>
                </a:solidFill>
              </a:defRPr>
            </a:pPr>
            <a:r>
              <a:t>✔  Self-Service 24/7 Booking: Pelanggan dapat reservasi mobil kapan pun tanpa perlu menunggu konfirmasi admin manual.</a:t>
            </a:r>
          </a:p>
          <a:p>
            <a:pPr>
              <a:spcAft>
                <a:spcPts val="500"/>
              </a:spcAft>
              <a:defRPr sz="1050">
                <a:solidFill>
                  <a:srgbClr val="A0AEC0"/>
                </a:solidFill>
              </a:defRPr>
            </a:pPr>
            <a:r>
              <a:t>✔  Verifikasi Jadwal Real-Time: Agen AI memeriksa Google Calendar secara langsung agar tidak terjadi jadwal ganda pada armada yang sama.</a:t>
            </a:r>
          </a:p>
          <a:p>
            <a:pPr>
              <a:spcAft>
                <a:spcPts val="500"/>
              </a:spcAft>
              <a:defRPr sz="1050">
                <a:solidFill>
                  <a:srgbClr val="A0AEC0"/>
                </a:solidFill>
              </a:defRPr>
            </a:pPr>
            <a:r>
              <a:t>✔  Dukungan Multimodal Audio: Pelanggan bisa mengirimkan Voice Note, AI mentranskripsinya via Whisper dan membalas dengan audio ramah via TTS.</a:t>
            </a:r>
          </a:p>
          <a:p>
            <a:pPr>
              <a:spcAft>
                <a:spcPts val="500"/>
              </a:spcAft>
              <a:defRPr sz="1050">
                <a:solidFill>
                  <a:srgbClr val="A0AEC0"/>
                </a:solidFill>
              </a:defRPr>
            </a:pPr>
            <a:r>
              <a:t>✔  Background Auto-Cancellation: Cron job otomatis membatalkan pesanan yang belum dibayar dalam batas waktu tertentu dan mengosongkan jadwal kembali.</a:t>
            </a:r>
          </a:p>
        </p:txBody>
      </p:sp>
      <p:sp>
        <p:nvSpPr>
          <p:cNvPr id="7" name="Rounded Rectangle 6"/>
          <p:cNvSpPr/>
          <p:nvPr/>
        </p:nvSpPr>
        <p:spPr>
          <a:xfrm>
            <a:off x="7223760" y="1645920"/>
            <a:ext cx="420624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06640" y="1828800"/>
            <a:ext cx="3840480" cy="5120640"/>
          </a:xfrm>
          <a:prstGeom prst="rect">
            <a:avLst/>
          </a:prstGeom>
        </p:spPr>
      </p:pic>
      <p:sp>
        <p:nvSpPr>
          <p:cNvPr id="9" name="TextBox 8"/>
          <p:cNvSpPr txBox="1"/>
          <p:nvPr/>
        </p:nvSpPr>
        <p:spPr>
          <a:xfrm>
            <a:off x="7406640" y="5760720"/>
            <a:ext cx="3840480" cy="457200"/>
          </a:xfrm>
          <a:prstGeom prst="rect">
            <a:avLst/>
          </a:prstGeom>
          <a:noFill/>
        </p:spPr>
        <p:txBody>
          <a:bodyPr wrap="square">
            <a:spAutoFit/>
          </a:bodyPr>
          <a:lstStyle/>
          <a:p>
            <a:pPr algn="ctr">
              <a:defRPr sz="950">
                <a:solidFill>
                  <a:srgbClr val="A0AEC0"/>
                </a:solidFill>
              </a:defRPr>
            </a:pPr>
            <a:r>
              <a:t>Percakapan reservasi &amp; verifikasi jadwal booking otomatis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34D399"/>
                </a:solidFill>
              </a:defRPr>
            </a:pPr>
            <a:r>
              <a:t>PROYEK 02: WHATSAPP AI RENTAL MOBIL</a:t>
            </a:r>
          </a:p>
        </p:txBody>
      </p:sp>
      <p:sp>
        <p:nvSpPr>
          <p:cNvPr id="4" name="TextBox 3"/>
          <p:cNvSpPr txBox="1"/>
          <p:nvPr/>
        </p:nvSpPr>
        <p:spPr>
          <a:xfrm>
            <a:off x="731520" y="777240"/>
            <a:ext cx="10698480" cy="640080"/>
          </a:xfrm>
          <a:prstGeom prst="rect">
            <a:avLst/>
          </a:prstGeom>
          <a:noFill/>
        </p:spPr>
        <p:txBody>
          <a:bodyPr wrap="square" lIns="0" tIns="0" rIns="0" bIns="0">
            <a:spAutoFit/>
          </a:bodyPr>
          <a:lstStyle/>
          <a:p>
            <a:pPr>
              <a:defRPr sz="2200" b="1">
                <a:solidFill>
                  <a:srgbClr val="FFFFFF"/>
                </a:solidFill>
              </a:defRPr>
            </a:pPr>
            <a:r>
              <a:t>Mekanisme Pemesanan, Multimodal Voice, &amp; Integrasi Pembayaran</a:t>
            </a:r>
          </a:p>
        </p:txBody>
      </p:sp>
      <p:sp>
        <p:nvSpPr>
          <p:cNvPr id="5" name="Rounded Rectangle 4"/>
          <p:cNvSpPr/>
          <p:nvPr/>
        </p:nvSpPr>
        <p:spPr>
          <a:xfrm>
            <a:off x="731520" y="1645920"/>
            <a:ext cx="5257800" cy="210312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800600" cy="1737360"/>
          </a:xfrm>
          <a:prstGeom prst="rect">
            <a:avLst/>
          </a:prstGeom>
          <a:noFill/>
        </p:spPr>
        <p:txBody>
          <a:bodyPr wrap="square" lIns="0" tIns="0" rIns="0" bIns="0">
            <a:spAutoFit/>
          </a:bodyPr>
          <a:lstStyle/>
          <a:p>
            <a:pPr>
              <a:spcAft>
                <a:spcPts val="600"/>
              </a:spcAft>
              <a:defRPr sz="1400" b="1">
                <a:solidFill>
                  <a:srgbClr val="34D399"/>
                </a:solidFill>
              </a:defRPr>
            </a:pPr>
            <a:r>
              <a:t>1. Pemrosesan Multimodal Audio</a:t>
            </a:r>
          </a:p>
          <a:p>
            <a:pPr>
              <a:defRPr sz="1100">
                <a:solidFill>
                  <a:srgbClr val="CBD5E1"/>
                </a:solidFill>
              </a:defRPr>
            </a:pPr>
            <a:r>
              <a:t>WhatsApp Voice Note -&gt; OpenAI Whisper (transkripsi akurat) -&gt; LangChain Agent memproses isi -&gt; Respons disintesis kembali via OpenAI TTS menjadi audio WhatsApp natural.</a:t>
            </a:r>
          </a:p>
        </p:txBody>
      </p:sp>
      <p:sp>
        <p:nvSpPr>
          <p:cNvPr id="7" name="Rounded Rectangle 6"/>
          <p:cNvSpPr/>
          <p:nvPr/>
        </p:nvSpPr>
        <p:spPr>
          <a:xfrm>
            <a:off x="6172200" y="1645920"/>
            <a:ext cx="5257800" cy="210312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00600" cy="1737360"/>
          </a:xfrm>
          <a:prstGeom prst="rect">
            <a:avLst/>
          </a:prstGeom>
          <a:noFill/>
        </p:spPr>
        <p:txBody>
          <a:bodyPr wrap="square" lIns="0" tIns="0" rIns="0" bIns="0">
            <a:spAutoFit/>
          </a:bodyPr>
          <a:lstStyle/>
          <a:p>
            <a:pPr>
              <a:spcAft>
                <a:spcPts val="600"/>
              </a:spcAft>
              <a:defRPr sz="1400" b="1">
                <a:solidFill>
                  <a:srgbClr val="34D399"/>
                </a:solidFill>
              </a:defRPr>
            </a:pPr>
            <a:r>
              <a:t>2. Verifikasi Jadwal &amp; Anti Double-Booking</a:t>
            </a:r>
          </a:p>
          <a:p>
            <a:pPr>
              <a:defRPr sz="1100">
                <a:solidFill>
                  <a:srgbClr val="CBD5E1"/>
                </a:solidFill>
              </a:defRPr>
            </a:pPr>
            <a:r>
              <a:t>Pengecekan live ke Google Calendar API. Jika armada A sedang disewa pada tanggal permintaan, AI merekomendasikan armada alternatif yang tersedia tanpa error.</a:t>
            </a:r>
          </a:p>
        </p:txBody>
      </p:sp>
      <p:sp>
        <p:nvSpPr>
          <p:cNvPr id="9" name="Rounded Rectangle 8"/>
          <p:cNvSpPr/>
          <p:nvPr/>
        </p:nvSpPr>
        <p:spPr>
          <a:xfrm>
            <a:off x="731520" y="3931920"/>
            <a:ext cx="5257800" cy="210312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114800"/>
            <a:ext cx="4800600" cy="1737360"/>
          </a:xfrm>
          <a:prstGeom prst="rect">
            <a:avLst/>
          </a:prstGeom>
          <a:noFill/>
        </p:spPr>
        <p:txBody>
          <a:bodyPr wrap="square" lIns="0" tIns="0" rIns="0" bIns="0">
            <a:spAutoFit/>
          </a:bodyPr>
          <a:lstStyle/>
          <a:p>
            <a:pPr>
              <a:spcAft>
                <a:spcPts val="600"/>
              </a:spcAft>
              <a:defRPr sz="1400" b="1">
                <a:solidFill>
                  <a:srgbClr val="34D399"/>
                </a:solidFill>
              </a:defRPr>
            </a:pPr>
            <a:r>
              <a:t>3. Kalkulasi Otomatis DP &amp; Tambahan Biaya</a:t>
            </a:r>
          </a:p>
          <a:p>
            <a:pPr>
              <a:defRPr sz="1100">
                <a:solidFill>
                  <a:srgbClr val="CBD5E1"/>
                </a:solidFill>
              </a:defRPr>
            </a:pPr>
            <a:r>
              <a:t>AI menghitung durasi hari sewa, biaya supir (all-in / lepas kunci), diskon durasi, dan nominal Down Payment (DP) secara presisi sebelum menerbitkan instruksi bayar.</a:t>
            </a:r>
          </a:p>
        </p:txBody>
      </p:sp>
      <p:sp>
        <p:nvSpPr>
          <p:cNvPr id="11" name="Rounded Rectangle 10"/>
          <p:cNvSpPr/>
          <p:nvPr/>
        </p:nvSpPr>
        <p:spPr>
          <a:xfrm>
            <a:off x="6172200" y="3931920"/>
            <a:ext cx="5257800" cy="210312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114800"/>
            <a:ext cx="4800600" cy="1737360"/>
          </a:xfrm>
          <a:prstGeom prst="rect">
            <a:avLst/>
          </a:prstGeom>
          <a:noFill/>
        </p:spPr>
        <p:txBody>
          <a:bodyPr wrap="square" lIns="0" tIns="0" rIns="0" bIns="0">
            <a:spAutoFit/>
          </a:bodyPr>
          <a:lstStyle/>
          <a:p>
            <a:pPr>
              <a:spcAft>
                <a:spcPts val="600"/>
              </a:spcAft>
              <a:defRPr sz="1400" b="1">
                <a:solidFill>
                  <a:srgbClr val="34D399"/>
                </a:solidFill>
              </a:defRPr>
            </a:pPr>
            <a:r>
              <a:t>4. Webhook Pembayaran &amp; Auto-Cancel</a:t>
            </a:r>
          </a:p>
          <a:p>
            <a:pPr>
              <a:defRPr sz="1100">
                <a:solidFill>
                  <a:srgbClr val="CBD5E1"/>
                </a:solidFill>
              </a:defRPr>
            </a:pPr>
            <a:r>
              <a:t>Payment Gateway memicu Webhook n8n saat DP terbayar (status 'Confirmed'). Jika 15 menit belum dibayar, background cron job otomatis merilis jadwal kalender.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A855F7"/>
                </a:solidFill>
              </a:defRPr>
            </a:pPr>
            <a:r>
              <a:t>PROYEK 03: WHATSAPP RAG AI ASSISTANT</a:t>
            </a:r>
          </a:p>
        </p:txBody>
      </p:sp>
      <p:sp>
        <p:nvSpPr>
          <p:cNvPr id="4" name="TextBox 3"/>
          <p:cNvSpPr txBox="1"/>
          <p:nvPr/>
        </p:nvSpPr>
        <p:spPr>
          <a:xfrm>
            <a:off x="731520" y="777240"/>
            <a:ext cx="10698480" cy="640080"/>
          </a:xfrm>
          <a:prstGeom prst="rect">
            <a:avLst/>
          </a:prstGeom>
          <a:noFill/>
        </p:spPr>
        <p:txBody>
          <a:bodyPr wrap="square" lIns="0" tIns="0" rIns="0" bIns="0">
            <a:spAutoFit/>
          </a:bodyPr>
          <a:lstStyle/>
          <a:p>
            <a:pPr>
              <a:defRPr sz="2200" b="1">
                <a:solidFill>
                  <a:srgbClr val="FFFFFF"/>
                </a:solidFill>
              </a:defRPr>
            </a:pPr>
            <a:r>
              <a:t>Pusat Informasi Akademik &amp; Regulasi Kampus Bebas Halusinasi</a:t>
            </a:r>
          </a:p>
        </p:txBody>
      </p:sp>
      <p:sp>
        <p:nvSpPr>
          <p:cNvPr id="5" name="Rounded Rectangle 4"/>
          <p:cNvSpPr/>
          <p:nvPr/>
        </p:nvSpPr>
        <p:spPr>
          <a:xfrm>
            <a:off x="731520" y="1645920"/>
            <a:ext cx="621792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5669280" cy="4297680"/>
          </a:xfrm>
          <a:prstGeom prst="rect">
            <a:avLst/>
          </a:prstGeom>
          <a:noFill/>
        </p:spPr>
        <p:txBody>
          <a:bodyPr wrap="square" lIns="0" tIns="0" rIns="0" bIns="0">
            <a:spAutoFit/>
          </a:bodyPr>
          <a:lstStyle/>
          <a:p>
            <a:pPr>
              <a:defRPr sz="1100" b="1">
                <a:solidFill>
                  <a:srgbClr val="A855F7"/>
                </a:solidFill>
              </a:defRPr>
            </a:pPr>
            <a:r>
              <a:t>TANTANGAN INFORMASI AKADEMIK MAHASISWA</a:t>
            </a:r>
          </a:p>
          <a:p>
            <a:pPr>
              <a:spcAft>
                <a:spcPts val="1000"/>
              </a:spcAft>
              <a:defRPr sz="1150">
                <a:solidFill>
                  <a:srgbClr val="CBD5E1"/>
                </a:solidFill>
              </a:defRPr>
            </a:pPr>
            <a:r>
              <a:t>Dokumen akademik, panduan KRS, skripsi, magang, dan beasiswa umumnya tersebar dalam berkas PDF tebal puluhan hingga ratusan halaman. Mahasiswa enggan membaca dokumen panjang dan sering bertanya berulang ke bagian akademik yang memiliki batas jam operasional kantor.</a:t>
            </a:r>
          </a:p>
          <a:p>
            <a:pPr>
              <a:defRPr sz="1100" b="1">
                <a:solidFill>
                  <a:srgbClr val="38BDF8"/>
                </a:solidFill>
              </a:defRPr>
            </a:pPr>
            <a:r>
              <a:t>SOLUSI RAG VIA WHATSAPP</a:t>
            </a:r>
          </a:p>
          <a:p>
            <a:pPr>
              <a:spcAft>
                <a:spcPts val="500"/>
              </a:spcAft>
              <a:defRPr sz="1050">
                <a:solidFill>
                  <a:srgbClr val="A0AEC0"/>
                </a:solidFill>
              </a:defRPr>
            </a:pPr>
            <a:r>
              <a:t>✔  Akses Instan 24 Jam: Mahasiswa cukup chat WhatsApp seperti bertanya ke teman, bot menjawab dalam hitungan detik.</a:t>
            </a:r>
          </a:p>
          <a:p>
            <a:pPr>
              <a:spcAft>
                <a:spcPts val="500"/>
              </a:spcAft>
              <a:defRPr sz="1050">
                <a:solidFill>
                  <a:srgbClr val="A0AEC0"/>
                </a:solidFill>
              </a:defRPr>
            </a:pPr>
            <a:r>
              <a:t>✔  Jawaban Tervalidasi &amp; Bebas Halusinasi: Bot hanya menyajikan jawaban yang bersumber langsung dari buku pedoman resmi kampus.</a:t>
            </a:r>
          </a:p>
          <a:p>
            <a:pPr>
              <a:spcAft>
                <a:spcPts val="500"/>
              </a:spcAft>
              <a:defRPr sz="1050">
                <a:solidFill>
                  <a:srgbClr val="A0AEC0"/>
                </a:solidFill>
              </a:defRPr>
            </a:pPr>
            <a:r>
              <a:t>✔  Pencarian Konseptual (Semantic): Mahasiswa tidak perlu menggunakan kata kunci persis; pemahaman makna (intent) dijembatani oleh model vektor.</a:t>
            </a:r>
          </a:p>
          <a:p>
            <a:pPr>
              <a:spcAft>
                <a:spcPts val="500"/>
              </a:spcAft>
              <a:defRPr sz="1050">
                <a:solidFill>
                  <a:srgbClr val="A0AEC0"/>
                </a:solidFill>
              </a:defRPr>
            </a:pPr>
            <a:r>
              <a:t>✔  Penghematan Beban Admin Akademik: Mengurangi hingga 80% pertanyaan repetitif seputar jadwal, syarat yudisium, dan prosedur kampus.</a:t>
            </a:r>
          </a:p>
        </p:txBody>
      </p:sp>
      <p:sp>
        <p:nvSpPr>
          <p:cNvPr id="7" name="Rounded Rectangle 6"/>
          <p:cNvSpPr/>
          <p:nvPr/>
        </p:nvSpPr>
        <p:spPr>
          <a:xfrm>
            <a:off x="7223760" y="1645920"/>
            <a:ext cx="420624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06640" y="1828800"/>
            <a:ext cx="3840480" cy="1634864"/>
          </a:xfrm>
          <a:prstGeom prst="rect">
            <a:avLst/>
          </a:prstGeom>
        </p:spPr>
      </p:pic>
      <p:sp>
        <p:nvSpPr>
          <p:cNvPr id="9" name="TextBox 8"/>
          <p:cNvSpPr txBox="1"/>
          <p:nvPr/>
        </p:nvSpPr>
        <p:spPr>
          <a:xfrm>
            <a:off x="7406640" y="5760720"/>
            <a:ext cx="3840480" cy="457200"/>
          </a:xfrm>
          <a:prstGeom prst="rect">
            <a:avLst/>
          </a:prstGeom>
          <a:noFill/>
        </p:spPr>
        <p:txBody>
          <a:bodyPr wrap="square">
            <a:spAutoFit/>
          </a:bodyPr>
          <a:lstStyle/>
          <a:p>
            <a:pPr algn="ctr">
              <a:defRPr sz="950">
                <a:solidFill>
                  <a:srgbClr val="A0AEC0"/>
                </a:solidFill>
              </a:defRPr>
            </a:pPr>
            <a:r>
              <a:t>Contoh tanya jawab mahasiswa seputar regulasi kampus di WhatsApp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A855F7"/>
                </a:solidFill>
              </a:defRPr>
            </a:pPr>
            <a:r>
              <a:t>PROYEK 03: WHATSAPP RAG AI ASSISTANT</a:t>
            </a:r>
          </a:p>
        </p:txBody>
      </p:sp>
      <p:sp>
        <p:nvSpPr>
          <p:cNvPr id="4" name="TextBox 3"/>
          <p:cNvSpPr txBox="1"/>
          <p:nvPr/>
        </p:nvSpPr>
        <p:spPr>
          <a:xfrm>
            <a:off x="731520" y="777240"/>
            <a:ext cx="10698480" cy="640080"/>
          </a:xfrm>
          <a:prstGeom prst="rect">
            <a:avLst/>
          </a:prstGeom>
          <a:noFill/>
        </p:spPr>
        <p:txBody>
          <a:bodyPr wrap="square" lIns="0" tIns="0" rIns="0" bIns="0">
            <a:spAutoFit/>
          </a:bodyPr>
          <a:lstStyle/>
          <a:p>
            <a:pPr>
              <a:defRPr sz="2200" b="1">
                <a:solidFill>
                  <a:srgbClr val="FFFFFF"/>
                </a:solidFill>
              </a:defRPr>
            </a:pPr>
            <a:r>
              <a:t>Implementasi Pipeline RAG: Chunking, Embedding, &amp; Similarity Search</a:t>
            </a:r>
          </a:p>
        </p:txBody>
      </p:sp>
      <p:sp>
        <p:nvSpPr>
          <p:cNvPr id="5" name="Rounded Rectangle 4"/>
          <p:cNvSpPr/>
          <p:nvPr/>
        </p:nvSpPr>
        <p:spPr>
          <a:xfrm>
            <a:off x="731520" y="1645920"/>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0149840" cy="868680"/>
          </a:xfrm>
          <a:prstGeom prst="rect">
            <a:avLst/>
          </a:prstGeom>
          <a:noFill/>
        </p:spPr>
        <p:txBody>
          <a:bodyPr wrap="square" lIns="0" tIns="0" rIns="0" bIns="0">
            <a:spAutoFit/>
          </a:bodyPr>
          <a:lstStyle/>
          <a:p>
            <a:pPr>
              <a:defRPr sz="1000" b="1">
                <a:solidFill>
                  <a:srgbClr val="A855F7"/>
                </a:solidFill>
              </a:defRPr>
            </a:pPr>
            <a:r>
              <a:t>STAGE 1</a:t>
            </a:r>
          </a:p>
          <a:p>
            <a:pPr>
              <a:spcAft>
                <a:spcPts val="200"/>
              </a:spcAft>
              <a:defRPr sz="1300" b="1">
                <a:solidFill>
                  <a:srgbClr val="FFFFFF"/>
                </a:solidFill>
              </a:defRPr>
            </a:pPr>
            <a:r>
              <a:t>Data Preparation &amp; Chunking</a:t>
            </a:r>
          </a:p>
          <a:p>
            <a:pPr>
              <a:defRPr sz="1050">
                <a:solidFill>
                  <a:srgbClr val="A0AEC0"/>
                </a:solidFill>
              </a:defRPr>
            </a:pPr>
            <a:r>
              <a:t>Buku pedoman akademik dipecah menjadi unit-unit teks logis (chunking) dengan overlap optimal agar konteks kalimat tidak terpotong.</a:t>
            </a:r>
          </a:p>
        </p:txBody>
      </p:sp>
      <p:sp>
        <p:nvSpPr>
          <p:cNvPr id="7" name="Rounded Rectangle 6"/>
          <p:cNvSpPr/>
          <p:nvPr/>
        </p:nvSpPr>
        <p:spPr>
          <a:xfrm>
            <a:off x="731520" y="2816352"/>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926080"/>
            <a:ext cx="10149840" cy="868680"/>
          </a:xfrm>
          <a:prstGeom prst="rect">
            <a:avLst/>
          </a:prstGeom>
          <a:noFill/>
        </p:spPr>
        <p:txBody>
          <a:bodyPr wrap="square" lIns="0" tIns="0" rIns="0" bIns="0">
            <a:spAutoFit/>
          </a:bodyPr>
          <a:lstStyle/>
          <a:p>
            <a:pPr>
              <a:defRPr sz="1000" b="1">
                <a:solidFill>
                  <a:srgbClr val="A855F7"/>
                </a:solidFill>
              </a:defRPr>
            </a:pPr>
            <a:r>
              <a:t>STAGE 2</a:t>
            </a:r>
          </a:p>
          <a:p>
            <a:pPr>
              <a:spcAft>
                <a:spcPts val="200"/>
              </a:spcAft>
              <a:defRPr sz="1300" b="1">
                <a:solidFill>
                  <a:srgbClr val="FFFFFF"/>
                </a:solidFill>
              </a:defRPr>
            </a:pPr>
            <a:r>
              <a:t>Vector Embedding Generation</a:t>
            </a:r>
          </a:p>
          <a:p>
            <a:pPr>
              <a:defRPr sz="1050">
                <a:solidFill>
                  <a:srgbClr val="A0AEC0"/>
                </a:solidFill>
              </a:defRPr>
            </a:pPr>
            <a:r>
              <a:t>Setiap chunk teks dikonversi menjadi representasi vektor numerik berdimensi tinggi menggunakan OpenAI text-embedding-3-small.</a:t>
            </a:r>
          </a:p>
        </p:txBody>
      </p:sp>
      <p:sp>
        <p:nvSpPr>
          <p:cNvPr id="9" name="Rounded Rectangle 8"/>
          <p:cNvSpPr/>
          <p:nvPr/>
        </p:nvSpPr>
        <p:spPr>
          <a:xfrm>
            <a:off x="731520" y="3986784"/>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96512"/>
            <a:ext cx="10149840" cy="868680"/>
          </a:xfrm>
          <a:prstGeom prst="rect">
            <a:avLst/>
          </a:prstGeom>
          <a:noFill/>
        </p:spPr>
        <p:txBody>
          <a:bodyPr wrap="square" lIns="0" tIns="0" rIns="0" bIns="0">
            <a:spAutoFit/>
          </a:bodyPr>
          <a:lstStyle/>
          <a:p>
            <a:pPr>
              <a:defRPr sz="1000" b="1">
                <a:solidFill>
                  <a:srgbClr val="A855F7"/>
                </a:solidFill>
              </a:defRPr>
            </a:pPr>
            <a:r>
              <a:t>STAGE 3</a:t>
            </a:r>
          </a:p>
          <a:p>
            <a:pPr>
              <a:spcAft>
                <a:spcPts val="200"/>
              </a:spcAft>
              <a:defRPr sz="1300" b="1">
                <a:solidFill>
                  <a:srgbClr val="FFFFFF"/>
                </a:solidFill>
              </a:defRPr>
            </a:pPr>
            <a:r>
              <a:t>Vector Indexing di Supabase pgvector</a:t>
            </a:r>
          </a:p>
          <a:p>
            <a:pPr>
              <a:defRPr sz="1050">
                <a:solidFill>
                  <a:srgbClr val="A0AEC0"/>
                </a:solidFill>
              </a:defRPr>
            </a:pPr>
            <a:r>
              <a:t>Vektor dan metadata disimpan dalam PostgreSQL Supabase menggunakan ekstensi pgvector dan indeks HNSW untuk pencarian milidetik.</a:t>
            </a:r>
          </a:p>
        </p:txBody>
      </p:sp>
      <p:sp>
        <p:nvSpPr>
          <p:cNvPr id="11" name="Rounded Rectangle 10"/>
          <p:cNvSpPr/>
          <p:nvPr/>
        </p:nvSpPr>
        <p:spPr>
          <a:xfrm>
            <a:off x="731520" y="5157216"/>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266944"/>
            <a:ext cx="10149840" cy="868680"/>
          </a:xfrm>
          <a:prstGeom prst="rect">
            <a:avLst/>
          </a:prstGeom>
          <a:noFill/>
        </p:spPr>
        <p:txBody>
          <a:bodyPr wrap="square" lIns="0" tIns="0" rIns="0" bIns="0">
            <a:spAutoFit/>
          </a:bodyPr>
          <a:lstStyle/>
          <a:p>
            <a:pPr>
              <a:defRPr sz="1000" b="1">
                <a:solidFill>
                  <a:srgbClr val="A855F7"/>
                </a:solidFill>
              </a:defRPr>
            </a:pPr>
            <a:r>
              <a:t>STAGE 4</a:t>
            </a:r>
          </a:p>
          <a:p>
            <a:pPr>
              <a:spcAft>
                <a:spcPts val="200"/>
              </a:spcAft>
              <a:defRPr sz="1300" b="1">
                <a:solidFill>
                  <a:srgbClr val="FFFFFF"/>
                </a:solidFill>
              </a:defRPr>
            </a:pPr>
            <a:r>
              <a:t>Similarity Search &amp; Prompt Augmentation</a:t>
            </a:r>
          </a:p>
          <a:p>
            <a:pPr>
              <a:defRPr sz="1050">
                <a:solidFill>
                  <a:srgbClr val="A0AEC0"/>
                </a:solidFill>
              </a:defRPr>
            </a:pPr>
            <a:r>
              <a:t>Pertanyaan mahasiswa dikonversi ke vektor, lalu dilakukan pencarian Cosine Similarity untuk mengambil top-K chunk paling relevan sebagai acuan LLM.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38BDF8"/>
                </a:solidFill>
              </a:defRPr>
            </a:pPr>
            <a:r>
              <a:t>ANALISIS KOMPARATIF</a:t>
            </a:r>
          </a:p>
        </p:txBody>
      </p:sp>
      <p:sp>
        <p:nvSpPr>
          <p:cNvPr id="4" name="TextBox 3"/>
          <p:cNvSpPr txBox="1"/>
          <p:nvPr/>
        </p:nvSpPr>
        <p:spPr>
          <a:xfrm>
            <a:off x="731520" y="777240"/>
            <a:ext cx="10698480" cy="640080"/>
          </a:xfrm>
          <a:prstGeom prst="rect">
            <a:avLst/>
          </a:prstGeom>
          <a:noFill/>
        </p:spPr>
        <p:txBody>
          <a:bodyPr wrap="square" lIns="0" tIns="0" rIns="0" bIns="0">
            <a:spAutoFit/>
          </a:bodyPr>
          <a:lstStyle/>
          <a:p>
            <a:pPr>
              <a:defRPr sz="2200" b="1">
                <a:solidFill>
                  <a:srgbClr val="FFFFFF"/>
                </a:solidFill>
              </a:defRPr>
            </a:pPr>
            <a:r>
              <a:t>Perbandingan Fitur, Arsitektur, &amp; Penggunaan Tiga Solusi</a:t>
            </a:r>
          </a:p>
        </p:txBody>
      </p:sp>
      <p:graphicFrame>
        <p:nvGraphicFramePr>
          <p:cNvPr id="5" name="Table 4"/>
          <p:cNvGraphicFramePr>
            <a:graphicFrameLocks noGrp="1"/>
          </p:cNvGraphicFramePr>
          <p:nvPr/>
        </p:nvGraphicFramePr>
        <p:xfrm>
          <a:off x="731520" y="1645920"/>
          <a:ext cx="10725912" cy="4572000"/>
        </p:xfrm>
        <a:graphic>
          <a:graphicData uri="http://schemas.openxmlformats.org/drawingml/2006/table">
            <a:tbl>
              <a:tblPr firstRow="1" bandRow="1">
                <a:tableStyleId>{5C22544A-7EE6-4342-B048-85BDC9FD1C3A}</a:tableStyleId>
              </a:tblPr>
              <a:tblGrid>
                <a:gridCol w="2011680"/>
                <a:gridCol w="2898648"/>
                <a:gridCol w="2898648"/>
                <a:gridCol w="2916936"/>
              </a:tblGrid>
              <a:tr h="762000">
                <a:tc>
                  <a:txBody>
                    <a:bodyPr/>
                    <a:lstStyle/>
                    <a:p>
                      <a:pPr algn="l">
                        <a:defRPr b="1" sz="1100">
                          <a:solidFill>
                            <a:srgbClr val="38BDF8"/>
                          </a:solidFill>
                        </a:defRPr>
                      </a:pPr>
                      <a:r>
                        <a:t>Parameter</a:t>
                      </a:r>
                    </a:p>
                  </a:txBody>
                  <a:tcPr>
                    <a:solidFill>
                      <a:srgbClr val="1C263E"/>
                    </a:solidFill>
                  </a:tcPr>
                </a:tc>
                <a:tc>
                  <a:txBody>
                    <a:bodyPr/>
                    <a:lstStyle/>
                    <a:p>
                      <a:pPr algn="l">
                        <a:defRPr b="1" sz="1100">
                          <a:solidFill>
                            <a:srgbClr val="38BDF8"/>
                          </a:solidFill>
                        </a:defRPr>
                      </a:pPr>
                      <a:r>
                        <a:t>OmniCore AI</a:t>
                      </a:r>
                    </a:p>
                  </a:txBody>
                  <a:tcPr>
                    <a:solidFill>
                      <a:srgbClr val="1C263E"/>
                    </a:solidFill>
                  </a:tcPr>
                </a:tc>
                <a:tc>
                  <a:txBody>
                    <a:bodyPr/>
                    <a:lstStyle/>
                    <a:p>
                      <a:pPr algn="l">
                        <a:defRPr b="1" sz="1100">
                          <a:solidFill>
                            <a:srgbClr val="38BDF8"/>
                          </a:solidFill>
                        </a:defRPr>
                      </a:pPr>
                      <a:r>
                        <a:t>WhatsApp AI Rental Mobil</a:t>
                      </a:r>
                    </a:p>
                  </a:txBody>
                  <a:tcPr>
                    <a:solidFill>
                      <a:srgbClr val="1C263E"/>
                    </a:solidFill>
                  </a:tcPr>
                </a:tc>
                <a:tc>
                  <a:txBody>
                    <a:bodyPr/>
                    <a:lstStyle/>
                    <a:p>
                      <a:pPr algn="l">
                        <a:defRPr b="1" sz="1100">
                          <a:solidFill>
                            <a:srgbClr val="38BDF8"/>
                          </a:solidFill>
                        </a:defRPr>
                      </a:pPr>
                      <a:r>
                        <a:t>WhatsApp RAG AI Assistant</a:t>
                      </a:r>
                    </a:p>
                  </a:txBody>
                  <a:tcPr>
                    <a:solidFill>
                      <a:srgbClr val="1C263E"/>
                    </a:solidFill>
                  </a:tcPr>
                </a:tc>
              </a:tr>
              <a:tr h="762000">
                <a:tc>
                  <a:txBody>
                    <a:bodyPr/>
                    <a:lstStyle/>
                    <a:p>
                      <a:pPr algn="l">
                        <a:defRPr sz="1000" b="1">
                          <a:solidFill>
                            <a:srgbClr val="FFFFFF"/>
                          </a:solidFill>
                        </a:defRPr>
                      </a:pPr>
                      <a:r>
                        <a:t>Fokus Utama</a:t>
                      </a:r>
                    </a:p>
                  </a:txBody>
                  <a:tcPr>
                    <a:solidFill>
                      <a:srgbClr val="141A2A"/>
                    </a:solidFill>
                  </a:tcPr>
                </a:tc>
                <a:tc>
                  <a:txBody>
                    <a:bodyPr/>
                    <a:lstStyle/>
                    <a:p>
                      <a:pPr algn="l">
                        <a:defRPr sz="1000">
                          <a:solidFill>
                            <a:srgbClr val="CBD5E1"/>
                          </a:solidFill>
                        </a:defRPr>
                      </a:pPr>
                      <a:r>
                        <a:t>Omnichannel Conversational Hub</a:t>
                      </a:r>
                    </a:p>
                  </a:txBody>
                  <a:tcPr>
                    <a:solidFill>
                      <a:srgbClr val="141A2A"/>
                    </a:solidFill>
                  </a:tcPr>
                </a:tc>
                <a:tc>
                  <a:txBody>
                    <a:bodyPr/>
                    <a:lstStyle/>
                    <a:p>
                      <a:pPr algn="l">
                        <a:defRPr sz="1000">
                          <a:solidFill>
                            <a:srgbClr val="CBD5E1"/>
                          </a:solidFill>
                        </a:defRPr>
                      </a:pPr>
                      <a:r>
                        <a:t>Autonomous Car Rental Booking</a:t>
                      </a:r>
                    </a:p>
                  </a:txBody>
                  <a:tcPr>
                    <a:solidFill>
                      <a:srgbClr val="141A2A"/>
                    </a:solidFill>
                  </a:tcPr>
                </a:tc>
                <a:tc>
                  <a:txBody>
                    <a:bodyPr/>
                    <a:lstStyle/>
                    <a:p>
                      <a:pPr algn="l">
                        <a:defRPr sz="1000">
                          <a:solidFill>
                            <a:srgbClr val="CBD5E1"/>
                          </a:solidFill>
                        </a:defRPr>
                      </a:pPr>
                      <a:r>
                        <a:t>Campus Academic Guidance</a:t>
                      </a:r>
                    </a:p>
                  </a:txBody>
                  <a:tcPr>
                    <a:solidFill>
                      <a:srgbClr val="141A2A"/>
                    </a:solidFill>
                  </a:tcPr>
                </a:tc>
              </a:tr>
              <a:tr h="762000">
                <a:tc>
                  <a:txBody>
                    <a:bodyPr/>
                    <a:lstStyle/>
                    <a:p>
                      <a:pPr algn="l">
                        <a:defRPr sz="1000" b="1">
                          <a:solidFill>
                            <a:srgbClr val="FFFFFF"/>
                          </a:solidFill>
                        </a:defRPr>
                      </a:pPr>
                      <a:r>
                        <a:t>Saluran Komunikasi</a:t>
                      </a:r>
                    </a:p>
                  </a:txBody>
                  <a:tcPr>
                    <a:solidFill>
                      <a:srgbClr val="101522"/>
                    </a:solidFill>
                  </a:tcPr>
                </a:tc>
                <a:tc>
                  <a:txBody>
                    <a:bodyPr/>
                    <a:lstStyle/>
                    <a:p>
                      <a:pPr algn="l">
                        <a:defRPr sz="1000">
                          <a:solidFill>
                            <a:srgbClr val="CBD5E1"/>
                          </a:solidFill>
                        </a:defRPr>
                      </a:pPr>
                      <a:r>
                        <a:t>WhatsApp (WAHA), Telegram, LINE</a:t>
                      </a:r>
                    </a:p>
                  </a:txBody>
                  <a:tcPr>
                    <a:solidFill>
                      <a:srgbClr val="101522"/>
                    </a:solidFill>
                  </a:tcPr>
                </a:tc>
                <a:tc>
                  <a:txBody>
                    <a:bodyPr/>
                    <a:lstStyle/>
                    <a:p>
                      <a:pPr algn="l">
                        <a:defRPr sz="1000">
                          <a:solidFill>
                            <a:srgbClr val="CBD5E1"/>
                          </a:solidFill>
                        </a:defRPr>
                      </a:pPr>
                      <a:r>
                        <a:t>WhatsApp Cloud API (Text &amp; Voice)</a:t>
                      </a:r>
                    </a:p>
                  </a:txBody>
                  <a:tcPr>
                    <a:solidFill>
                      <a:srgbClr val="101522"/>
                    </a:solidFill>
                  </a:tcPr>
                </a:tc>
                <a:tc>
                  <a:txBody>
                    <a:bodyPr/>
                    <a:lstStyle/>
                    <a:p>
                      <a:pPr algn="l">
                        <a:defRPr sz="1000">
                          <a:solidFill>
                            <a:srgbClr val="CBD5E1"/>
                          </a:solidFill>
                        </a:defRPr>
                      </a:pPr>
                      <a:r>
                        <a:t>WhatsApp API (Mobile Chat)</a:t>
                      </a:r>
                    </a:p>
                  </a:txBody>
                  <a:tcPr>
                    <a:solidFill>
                      <a:srgbClr val="101522"/>
                    </a:solidFill>
                  </a:tcPr>
                </a:tc>
              </a:tr>
              <a:tr h="762000">
                <a:tc>
                  <a:txBody>
                    <a:bodyPr/>
                    <a:lstStyle/>
                    <a:p>
                      <a:pPr algn="l">
                        <a:defRPr sz="1000" b="1">
                          <a:solidFill>
                            <a:srgbClr val="FFFFFF"/>
                          </a:solidFill>
                        </a:defRPr>
                      </a:pPr>
                      <a:r>
                        <a:t>Model Kecerdasan</a:t>
                      </a:r>
                    </a:p>
                  </a:txBody>
                  <a:tcPr>
                    <a:solidFill>
                      <a:srgbClr val="141A2A"/>
                    </a:solidFill>
                  </a:tcPr>
                </a:tc>
                <a:tc>
                  <a:txBody>
                    <a:bodyPr/>
                    <a:lstStyle/>
                    <a:p>
                      <a:pPr algn="l">
                        <a:defRPr sz="1000">
                          <a:solidFill>
                            <a:srgbClr val="CBD5E1"/>
                          </a:solidFill>
                        </a:defRPr>
                      </a:pPr>
                      <a:r>
                        <a:t>Google Gemini &amp; OpenAI GPT</a:t>
                      </a:r>
                    </a:p>
                  </a:txBody>
                  <a:tcPr>
                    <a:solidFill>
                      <a:srgbClr val="141A2A"/>
                    </a:solidFill>
                  </a:tcPr>
                </a:tc>
                <a:tc>
                  <a:txBody>
                    <a:bodyPr/>
                    <a:lstStyle/>
                    <a:p>
                      <a:pPr algn="l">
                        <a:defRPr sz="1000">
                          <a:solidFill>
                            <a:srgbClr val="CBD5E1"/>
                          </a:solidFill>
                        </a:defRPr>
                      </a:pPr>
                      <a:r>
                        <a:t>LangChain Agent + Whisper &amp; TTS</a:t>
                      </a:r>
                    </a:p>
                  </a:txBody>
                  <a:tcPr>
                    <a:solidFill>
                      <a:srgbClr val="141A2A"/>
                    </a:solidFill>
                  </a:tcPr>
                </a:tc>
                <a:tc>
                  <a:txBody>
                    <a:bodyPr/>
                    <a:lstStyle/>
                    <a:p>
                      <a:pPr algn="l">
                        <a:defRPr sz="1000">
                          <a:solidFill>
                            <a:srgbClr val="CBD5E1"/>
                          </a:solidFill>
                        </a:defRPr>
                      </a:pPr>
                      <a:r>
                        <a:t>OpenAI Embeddings + GPT</a:t>
                      </a:r>
                    </a:p>
                  </a:txBody>
                  <a:tcPr>
                    <a:solidFill>
                      <a:srgbClr val="141A2A"/>
                    </a:solidFill>
                  </a:tcPr>
                </a:tc>
              </a:tr>
              <a:tr h="762000">
                <a:tc>
                  <a:txBody>
                    <a:bodyPr/>
                    <a:lstStyle/>
                    <a:p>
                      <a:pPr algn="l">
                        <a:defRPr sz="1000" b="1">
                          <a:solidFill>
                            <a:srgbClr val="FFFFFF"/>
                          </a:solidFill>
                        </a:defRPr>
                      </a:pPr>
                      <a:r>
                        <a:t>Penyimpanan Data</a:t>
                      </a:r>
                    </a:p>
                  </a:txBody>
                  <a:tcPr>
                    <a:solidFill>
                      <a:srgbClr val="101522"/>
                    </a:solidFill>
                  </a:tcPr>
                </a:tc>
                <a:tc>
                  <a:txBody>
                    <a:bodyPr/>
                    <a:lstStyle/>
                    <a:p>
                      <a:pPr algn="l">
                        <a:defRPr sz="1000">
                          <a:solidFill>
                            <a:srgbClr val="CBD5E1"/>
                          </a:solidFill>
                        </a:defRPr>
                      </a:pPr>
                      <a:r>
                        <a:t>Supabase pgvector + PostgreSQL</a:t>
                      </a:r>
                    </a:p>
                  </a:txBody>
                  <a:tcPr>
                    <a:solidFill>
                      <a:srgbClr val="101522"/>
                    </a:solidFill>
                  </a:tcPr>
                </a:tc>
                <a:tc>
                  <a:txBody>
                    <a:bodyPr/>
                    <a:lstStyle/>
                    <a:p>
                      <a:pPr algn="l">
                        <a:defRPr sz="1000">
                          <a:solidFill>
                            <a:srgbClr val="CBD5E1"/>
                          </a:solidFill>
                        </a:defRPr>
                      </a:pPr>
                      <a:r>
                        <a:t>Google Calendar API + PostgreSQL</a:t>
                      </a:r>
                    </a:p>
                  </a:txBody>
                  <a:tcPr>
                    <a:solidFill>
                      <a:srgbClr val="101522"/>
                    </a:solidFill>
                  </a:tcPr>
                </a:tc>
                <a:tc>
                  <a:txBody>
                    <a:bodyPr/>
                    <a:lstStyle/>
                    <a:p>
                      <a:pPr algn="l">
                        <a:defRPr sz="1000">
                          <a:solidFill>
                            <a:srgbClr val="CBD5E1"/>
                          </a:solidFill>
                        </a:defRPr>
                      </a:pPr>
                      <a:r>
                        <a:t>Supabase pgvector + PostgreSQL</a:t>
                      </a:r>
                    </a:p>
                  </a:txBody>
                  <a:tcPr>
                    <a:solidFill>
                      <a:srgbClr val="101522"/>
                    </a:solidFill>
                  </a:tcPr>
                </a:tc>
              </a:tr>
              <a:tr h="762000">
                <a:tc>
                  <a:txBody>
                    <a:bodyPr/>
                    <a:lstStyle/>
                    <a:p>
                      <a:pPr algn="l">
                        <a:defRPr sz="1000" b="1">
                          <a:solidFill>
                            <a:srgbClr val="FFFFFF"/>
                          </a:solidFill>
                        </a:defRPr>
                      </a:pPr>
                      <a:r>
                        <a:t>Keunggulan Kunci</a:t>
                      </a:r>
                    </a:p>
                  </a:txBody>
                  <a:tcPr>
                    <a:solidFill>
                      <a:srgbClr val="141A2A"/>
                    </a:solidFill>
                  </a:tcPr>
                </a:tc>
                <a:tc>
                  <a:txBody>
                    <a:bodyPr/>
                    <a:lstStyle/>
                    <a:p>
                      <a:pPr algn="l">
                        <a:defRPr sz="1000">
                          <a:solidFill>
                            <a:srgbClr val="CBD5E1"/>
                          </a:solidFill>
                        </a:defRPr>
                      </a:pPr>
                      <a:r>
                        <a:t>Autonomous ETL Drive &amp; Hybrid SQL</a:t>
                      </a:r>
                    </a:p>
                  </a:txBody>
                  <a:tcPr>
                    <a:solidFill>
                      <a:srgbClr val="141A2A"/>
                    </a:solidFill>
                  </a:tcPr>
                </a:tc>
                <a:tc>
                  <a:txBody>
                    <a:bodyPr/>
                    <a:lstStyle/>
                    <a:p>
                      <a:pPr algn="l">
                        <a:defRPr sz="1000">
                          <a:solidFill>
                            <a:srgbClr val="CBD5E1"/>
                          </a:solidFill>
                        </a:defRPr>
                      </a:pPr>
                      <a:r>
                        <a:t>Multimodal Voice &amp; Anti Double-Booking</a:t>
                      </a:r>
                    </a:p>
                  </a:txBody>
                  <a:tcPr>
                    <a:solidFill>
                      <a:srgbClr val="141A2A"/>
                    </a:solidFill>
                  </a:tcPr>
                </a:tc>
                <a:tc>
                  <a:txBody>
                    <a:bodyPr/>
                    <a:lstStyle/>
                    <a:p>
                      <a:pPr algn="l">
                        <a:defRPr sz="1000">
                          <a:solidFill>
                            <a:srgbClr val="CBD5E1"/>
                          </a:solidFill>
                        </a:defRPr>
                      </a:pPr>
                      <a:r>
                        <a:t>Zero-Hallucination Academic RAG</a:t>
                      </a:r>
                    </a:p>
                  </a:txBody>
                  <a:tcPr>
                    <a:solidFill>
                      <a:srgbClr val="141A2A"/>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34D399"/>
                </a:solidFill>
              </a:defRPr>
            </a:pPr>
            <a:r>
              <a:t>NILAI BISNIS &amp; DAMPAK NYATA</a:t>
            </a:r>
          </a:p>
        </p:txBody>
      </p:sp>
      <p:sp>
        <p:nvSpPr>
          <p:cNvPr id="4" name="TextBox 3"/>
          <p:cNvSpPr txBox="1"/>
          <p:nvPr/>
        </p:nvSpPr>
        <p:spPr>
          <a:xfrm>
            <a:off x="731520" y="777240"/>
            <a:ext cx="10698480" cy="640080"/>
          </a:xfrm>
          <a:prstGeom prst="rect">
            <a:avLst/>
          </a:prstGeom>
          <a:noFill/>
        </p:spPr>
        <p:txBody>
          <a:bodyPr wrap="square" lIns="0" tIns="0" rIns="0" bIns="0">
            <a:spAutoFit/>
          </a:bodyPr>
          <a:lstStyle/>
          <a:p>
            <a:pPr>
              <a:defRPr sz="2200" b="1">
                <a:solidFill>
                  <a:srgbClr val="FFFFFF"/>
                </a:solidFill>
              </a:defRPr>
            </a:pPr>
            <a:r>
              <a:t>Manfaat Operasional dari Penerapan Sistem AI &amp; Otomasi</a:t>
            </a:r>
          </a:p>
        </p:txBody>
      </p:sp>
      <p:sp>
        <p:nvSpPr>
          <p:cNvPr id="5" name="Rounded Rectangle 4"/>
          <p:cNvSpPr/>
          <p:nvPr/>
        </p:nvSpPr>
        <p:spPr>
          <a:xfrm>
            <a:off x="731520"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176272" cy="3931920"/>
          </a:xfrm>
          <a:prstGeom prst="rect">
            <a:avLst/>
          </a:prstGeom>
          <a:noFill/>
        </p:spPr>
        <p:txBody>
          <a:bodyPr wrap="square" lIns="0" tIns="0" rIns="0" bIns="0">
            <a:spAutoFit/>
          </a:bodyPr>
          <a:lstStyle/>
          <a:p>
            <a:pPr>
              <a:spcAft>
                <a:spcPts val="400"/>
              </a:spcAft>
              <a:defRPr sz="3600" b="1">
                <a:solidFill>
                  <a:srgbClr val="34D399"/>
                </a:solidFill>
              </a:defRPr>
            </a:pPr>
            <a:r>
              <a:t>24/7</a:t>
            </a:r>
          </a:p>
          <a:p>
            <a:pPr>
              <a:spcAft>
                <a:spcPts val="1200"/>
              </a:spcAft>
              <a:defRPr sz="1500" b="1">
                <a:solidFill>
                  <a:srgbClr val="FFFFFF"/>
                </a:solidFill>
              </a:defRPr>
            </a:pPr>
            <a:r>
              <a:t>Ketersediaan Nonstop</a:t>
            </a:r>
          </a:p>
          <a:p>
            <a:pPr>
              <a:defRPr sz="1100">
                <a:solidFill>
                  <a:srgbClr val="A0AEC0"/>
                </a:solidFill>
              </a:defRPr>
            </a:pPr>
            <a:r>
              <a:t>Layanan selalu aktif sepanjang waktu tanpa mengenal libur, melayani pelanggan saat jam istirahat dan malam hari ketika staf manusia offline.</a:t>
            </a:r>
          </a:p>
        </p:txBody>
      </p:sp>
      <p:sp>
        <p:nvSpPr>
          <p:cNvPr id="7" name="Rounded Rectangle 6"/>
          <p:cNvSpPr/>
          <p:nvPr/>
        </p:nvSpPr>
        <p:spPr>
          <a:xfrm>
            <a:off x="3456432"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2011680"/>
            <a:ext cx="2176272" cy="3931920"/>
          </a:xfrm>
          <a:prstGeom prst="rect">
            <a:avLst/>
          </a:prstGeom>
          <a:noFill/>
        </p:spPr>
        <p:txBody>
          <a:bodyPr wrap="square" lIns="0" tIns="0" rIns="0" bIns="0">
            <a:spAutoFit/>
          </a:bodyPr>
          <a:lstStyle/>
          <a:p>
            <a:pPr>
              <a:spcAft>
                <a:spcPts val="400"/>
              </a:spcAft>
              <a:defRPr sz="3600" b="1">
                <a:solidFill>
                  <a:srgbClr val="34D399"/>
                </a:solidFill>
              </a:defRPr>
            </a:pPr>
            <a:r>
              <a:t>0 Detik</a:t>
            </a:r>
          </a:p>
          <a:p>
            <a:pPr>
              <a:spcAft>
                <a:spcPts val="1200"/>
              </a:spcAft>
              <a:defRPr sz="1500" b="1">
                <a:solidFill>
                  <a:srgbClr val="FFFFFF"/>
                </a:solidFill>
              </a:defRPr>
            </a:pPr>
            <a:r>
              <a:t>Waktu Tunggu Respon</a:t>
            </a:r>
          </a:p>
          <a:p>
            <a:pPr>
              <a:defRPr sz="1100">
                <a:solidFill>
                  <a:srgbClr val="A0AEC0"/>
                </a:solidFill>
              </a:defRPr>
            </a:pPr>
            <a:r>
              <a:t>Pertanyaan dan reservasi diproses instan dalam hitungan detik. Mengeliminasi antrean chat dan mencegah pelanggan berpindah ke kompetitor.</a:t>
            </a:r>
          </a:p>
        </p:txBody>
      </p:sp>
      <p:sp>
        <p:nvSpPr>
          <p:cNvPr id="9" name="Rounded Rectangle 8"/>
          <p:cNvSpPr/>
          <p:nvPr/>
        </p:nvSpPr>
        <p:spPr>
          <a:xfrm>
            <a:off x="6181344"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2011680"/>
            <a:ext cx="2176272" cy="3931920"/>
          </a:xfrm>
          <a:prstGeom prst="rect">
            <a:avLst/>
          </a:prstGeom>
          <a:noFill/>
        </p:spPr>
        <p:txBody>
          <a:bodyPr wrap="square" lIns="0" tIns="0" rIns="0" bIns="0">
            <a:spAutoFit/>
          </a:bodyPr>
          <a:lstStyle/>
          <a:p>
            <a:pPr>
              <a:spcAft>
                <a:spcPts val="400"/>
              </a:spcAft>
              <a:defRPr sz="3600" b="1">
                <a:solidFill>
                  <a:srgbClr val="34D399"/>
                </a:solidFill>
              </a:defRPr>
            </a:pPr>
            <a:r>
              <a:t>100%</a:t>
            </a:r>
          </a:p>
          <a:p>
            <a:pPr>
              <a:spcAft>
                <a:spcPts val="1200"/>
              </a:spcAft>
              <a:defRPr sz="1500" b="1">
                <a:solidFill>
                  <a:srgbClr val="FFFFFF"/>
                </a:solidFill>
              </a:defRPr>
            </a:pPr>
            <a:r>
              <a:t>Akurasi Jadwal &amp; Data</a:t>
            </a:r>
          </a:p>
          <a:p>
            <a:pPr>
              <a:defRPr sz="1100">
                <a:solidFill>
                  <a:srgbClr val="A0AEC0"/>
                </a:solidFill>
              </a:defRPr>
            </a:pPr>
            <a:r>
              <a:t>Pengecekan langsung kalender operasional dan database memastikan tidak ada double-booking armada dan kesalahan hitung DP.</a:t>
            </a:r>
          </a:p>
        </p:txBody>
      </p:sp>
      <p:sp>
        <p:nvSpPr>
          <p:cNvPr id="11" name="Rounded Rectangle 10"/>
          <p:cNvSpPr/>
          <p:nvPr/>
        </p:nvSpPr>
        <p:spPr>
          <a:xfrm>
            <a:off x="8906256"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9136" y="2011680"/>
            <a:ext cx="2176272" cy="3931920"/>
          </a:xfrm>
          <a:prstGeom prst="rect">
            <a:avLst/>
          </a:prstGeom>
          <a:noFill/>
        </p:spPr>
        <p:txBody>
          <a:bodyPr wrap="square" lIns="0" tIns="0" rIns="0" bIns="0">
            <a:spAutoFit/>
          </a:bodyPr>
          <a:lstStyle/>
          <a:p>
            <a:pPr>
              <a:spcAft>
                <a:spcPts val="400"/>
              </a:spcAft>
              <a:defRPr sz="3600" b="1">
                <a:solidFill>
                  <a:srgbClr val="34D399"/>
                </a:solidFill>
              </a:defRPr>
            </a:pPr>
            <a:r>
              <a:t>80%</a:t>
            </a:r>
          </a:p>
          <a:p>
            <a:pPr>
              <a:spcAft>
                <a:spcPts val="1200"/>
              </a:spcAft>
              <a:defRPr sz="1500" b="1">
                <a:solidFill>
                  <a:srgbClr val="FFFFFF"/>
                </a:solidFill>
              </a:defRPr>
            </a:pPr>
            <a:r>
              <a:t>Pengurangan Beban Rutin</a:t>
            </a:r>
          </a:p>
          <a:p>
            <a:pPr>
              <a:defRPr sz="1100">
                <a:solidFill>
                  <a:srgbClr val="A0AEC0"/>
                </a:solidFill>
              </a:defRPr>
            </a:pPr>
            <a:r>
              <a:t>Mengotomasikan hingga 80% pertanyaan berulang dan alur administrasi manual, sehingga tim dapat fokus pada hal strategis dan closing penjualan.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38BDF8"/>
                </a:solidFill>
              </a:defRPr>
            </a:pPr>
            <a:r>
              <a:t>PENUTUP &amp; KONTAK PENGEMBANG</a:t>
            </a:r>
          </a:p>
        </p:txBody>
      </p:sp>
      <p:sp>
        <p:nvSpPr>
          <p:cNvPr id="4" name="TextBox 3"/>
          <p:cNvSpPr txBox="1"/>
          <p:nvPr/>
        </p:nvSpPr>
        <p:spPr>
          <a:xfrm>
            <a:off x="731520" y="777240"/>
            <a:ext cx="10698480" cy="640080"/>
          </a:xfrm>
          <a:prstGeom prst="rect">
            <a:avLst/>
          </a:prstGeom>
          <a:noFill/>
        </p:spPr>
        <p:txBody>
          <a:bodyPr wrap="square" lIns="0" tIns="0" rIns="0" bIns="0">
            <a:spAutoFit/>
          </a:bodyPr>
          <a:lstStyle/>
          <a:p>
            <a:pPr>
              <a:defRPr sz="2200" b="1">
                <a:solidFill>
                  <a:srgbClr val="FFFFFF"/>
                </a:solidFill>
              </a:defRPr>
            </a:pPr>
            <a:r>
              <a:t>Membangun Solusi AI &amp; Otomasi Berdampak untuk Masa Depan</a:t>
            </a:r>
          </a:p>
        </p:txBody>
      </p:sp>
      <p:sp>
        <p:nvSpPr>
          <p:cNvPr id="5" name="Rounded Rectangle 4"/>
          <p:cNvSpPr/>
          <p:nvPr/>
        </p:nvSpPr>
        <p:spPr>
          <a:xfrm>
            <a:off x="731520" y="1645920"/>
            <a:ext cx="1072591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20240"/>
            <a:ext cx="9966960" cy="4114800"/>
          </a:xfrm>
          <a:prstGeom prst="rect">
            <a:avLst/>
          </a:prstGeom>
          <a:noFill/>
        </p:spPr>
        <p:txBody>
          <a:bodyPr wrap="square" lIns="0" tIns="0" rIns="0" bIns="0">
            <a:spAutoFit/>
          </a:bodyPr>
          <a:lstStyle/>
          <a:p>
            <a:pPr>
              <a:defRPr sz="2400" b="1">
                <a:solidFill>
                  <a:srgbClr val="FFFFFF"/>
                </a:solidFill>
              </a:defRPr>
            </a:pPr>
            <a:r>
              <a:t>Faliqul Ishbah</a:t>
            </a:r>
          </a:p>
          <a:p>
            <a:pPr>
              <a:spcAft>
                <a:spcPts val="1600"/>
              </a:spcAft>
              <a:defRPr sz="1300">
                <a:solidFill>
                  <a:srgbClr val="38BDF8"/>
                </a:solidFill>
              </a:defRPr>
            </a:pPr>
            <a:r>
              <a:t>AI Automation Engineer • Data Scientist • Fullstack &amp; Frontend Developer</a:t>
            </a:r>
          </a:p>
          <a:p>
            <a:pPr>
              <a:defRPr sz="1200" b="1">
                <a:solidFill>
                  <a:srgbClr val="34D399"/>
                </a:solidFill>
              </a:defRPr>
            </a:pPr>
            <a:r>
              <a:t>Komitmen Pengembangan:</a:t>
            </a:r>
          </a:p>
          <a:p>
            <a:pPr>
              <a:spcAft>
                <a:spcPts val="2000"/>
              </a:spcAft>
              <a:defRPr sz="1100">
                <a:solidFill>
                  <a:srgbClr val="CBD5E1"/>
                </a:solidFill>
              </a:defRPr>
            </a:pPr>
            <a:r>
              <a:t>Tiga proyek ini merepresentasikan kapabilitas end-to-end dalam merancang arsitektur AI yang tidak hanya cerdas di atas kertas, tetapi terbukti tangguh dan terintegrasi langsung dengan ekosistem bisnis nyata (messaging API, workflow engine, payment gateway, dan database vektor).</a:t>
            </a:r>
          </a:p>
          <a:p>
            <a:pPr>
              <a:defRPr sz="1200" b="1">
                <a:solidFill>
                  <a:srgbClr val="FB923C"/>
                </a:solidFill>
              </a:defRPr>
            </a:pPr>
            <a:r>
              <a:t>Tautan &amp; Kontak Resmi:</a:t>
            </a:r>
          </a:p>
          <a:p>
            <a:pPr>
              <a:spcAft>
                <a:spcPts val="400"/>
              </a:spcAft>
              <a:defRPr sz="1100">
                <a:solidFill>
                  <a:srgbClr val="A0AEC0"/>
                </a:solidFill>
              </a:defRPr>
            </a:pPr>
            <a:r>
              <a:t>🌐 Website Portofolio: https://faliq-portfolio.vercel.app/</a:t>
            </a:r>
          </a:p>
          <a:p>
            <a:pPr>
              <a:spcAft>
                <a:spcPts val="400"/>
              </a:spcAft>
              <a:defRPr sz="1100">
                <a:solidFill>
                  <a:srgbClr val="A0AEC0"/>
                </a:solidFill>
              </a:defRPr>
            </a:pPr>
            <a:r>
              <a:t>💼 LinkedIn: https://www.linkedin.com/in/faliqulishbah/</a:t>
            </a:r>
          </a:p>
          <a:p>
            <a:pPr>
              <a:spcAft>
                <a:spcPts val="400"/>
              </a:spcAft>
              <a:defRPr sz="1100">
                <a:solidFill>
                  <a:srgbClr val="A0AEC0"/>
                </a:solidFill>
              </a:defRPr>
            </a:pPr>
            <a:r>
              <a:t>🐙 GitHub: https://github.com/Faliqulxx</a:t>
            </a:r>
          </a:p>
          <a:p>
            <a:pPr>
              <a:spcAft>
                <a:spcPts val="400"/>
              </a:spcAft>
              <a:defRPr sz="1100">
                <a:solidFill>
                  <a:srgbClr val="A0AEC0"/>
                </a:solidFill>
              </a:defRPr>
            </a:pPr>
            <a:r>
              <a:t>✉️ Email: faliqul.isback@gmail.com</a:t>
            </a:r>
          </a:p>
          <a:p>
            <a:pPr>
              <a:spcAft>
                <a:spcPts val="400"/>
              </a:spcAft>
              <a:defRPr sz="1100">
                <a:solidFill>
                  <a:srgbClr val="A0AEC0"/>
                </a:solidFill>
              </a:defRPr>
            </a:pPr>
            <a:r>
              <a:t>📍 Lokasi: Gresik, Jawa Timur, Indonesia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