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371600"/>
            <a:ext cx="3291840" cy="384048"/>
          </a:xfrm>
          <a:prstGeom prst="roundRect">
            <a:avLst/>
          </a:prstGeom>
          <a:solidFill>
            <a:srgbClr val="282012"/>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BBF24"/>
                </a:solidFill>
              </a:defRPr>
            </a:pPr>
            <a:r>
              <a:t>DOKUMENTASI WEB, E-COMMERCE &amp; SISTEM POS</a:t>
            </a:r>
          </a:p>
        </p:txBody>
      </p:sp>
      <p:sp>
        <p:nvSpPr>
          <p:cNvPr id="5" name="TextBox 4"/>
          <p:cNvSpPr txBox="1"/>
          <p:nvPr/>
        </p:nvSpPr>
        <p:spPr>
          <a:xfrm>
            <a:off x="1097280" y="1920240"/>
            <a:ext cx="9875520" cy="1463040"/>
          </a:xfrm>
          <a:prstGeom prst="rect">
            <a:avLst/>
          </a:prstGeom>
          <a:noFill/>
        </p:spPr>
        <p:txBody>
          <a:bodyPr wrap="square" lIns="0" tIns="0" rIns="0" bIns="0">
            <a:spAutoFit/>
          </a:bodyPr>
          <a:lstStyle/>
          <a:p>
            <a:pPr>
              <a:defRPr sz="3300" b="1">
                <a:solidFill>
                  <a:srgbClr val="FFFFFF"/>
                </a:solidFill>
              </a:defRPr>
            </a:pPr>
            <a:r>
              <a:t>Inovasi Web Interaktif, Retail POS, &amp; Sistem Rental</a:t>
            </a:r>
          </a:p>
        </p:txBody>
      </p:sp>
      <p:sp>
        <p:nvSpPr>
          <p:cNvPr id="6" name="TextBox 5"/>
          <p:cNvSpPr txBox="1"/>
          <p:nvPr/>
        </p:nvSpPr>
        <p:spPr>
          <a:xfrm>
            <a:off x="1097280" y="3291840"/>
            <a:ext cx="9875520" cy="914400"/>
          </a:xfrm>
          <a:prstGeom prst="rect">
            <a:avLst/>
          </a:prstGeom>
          <a:noFill/>
        </p:spPr>
        <p:txBody>
          <a:bodyPr wrap="square" lIns="0" tIns="0" rIns="0" bIns="0">
            <a:spAutoFit/>
          </a:bodyPr>
          <a:lstStyle/>
          <a:p>
            <a:pPr>
              <a:defRPr sz="1500">
                <a:solidFill>
                  <a:srgbClr val="A0AEC0"/>
                </a:solidFill>
              </a:defRPr>
            </a:pPr>
            <a:r>
              <a:t>Studi Arsitektur, Desain Interaktif, &amp; Implementasi Bisnis Nyata pada:</a:t>
            </a:r>
            <a:br/>
            <a:r>
              <a:t>1. ChocoTea   •   2. Bandeng Freeze   •   3. PawMart POS   •   4. CampRent</a:t>
            </a:r>
          </a:p>
        </p:txBody>
      </p:sp>
      <p:sp>
        <p:nvSpPr>
          <p:cNvPr id="7" name="Rounded Rectangle 6"/>
          <p:cNvSpPr/>
          <p:nvPr/>
        </p:nvSpPr>
        <p:spPr>
          <a:xfrm>
            <a:off x="1097280" y="4572000"/>
            <a:ext cx="9875520" cy="14630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754880"/>
            <a:ext cx="9326880" cy="1097280"/>
          </a:xfrm>
          <a:prstGeom prst="rect">
            <a:avLst/>
          </a:prstGeom>
          <a:noFill/>
        </p:spPr>
        <p:txBody>
          <a:bodyPr wrap="square">
            <a:spAutoFit/>
          </a:bodyPr>
          <a:lstStyle/>
          <a:p>
            <a:pPr>
              <a:defRPr sz="1800" b="1">
                <a:solidFill>
                  <a:srgbClr val="34D399"/>
                </a:solidFill>
              </a:defRPr>
            </a:pPr>
            <a:r>
              <a:t>Faliqul Ishbah</a:t>
            </a:r>
          </a:p>
          <a:p>
            <a:pPr>
              <a:defRPr sz="1300">
                <a:solidFill>
                  <a:srgbClr val="CBD5E1"/>
                </a:solidFill>
              </a:defRPr>
            </a:pPr>
            <a:r>
              <a:t>Fullstack &amp; Frontend Web Developer  |  Gresik, Jawa Timur, Indonesia</a:t>
            </a:r>
          </a:p>
          <a:p>
            <a:pPr>
              <a:defRPr sz="1100">
                <a:solidFill>
                  <a:srgbClr val="A0AEC0"/>
                </a:solidFill>
              </a:defRPr>
            </a:pPr>
            <a:r>
              <a:t>Tech: Next.js 15, React 18, TypeScript, Tailwind CSS, Prisma ORM, Supabase, GSAP ScrollTrigger, Lenis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FBBF24"/>
                </a:solidFill>
              </a:defRPr>
            </a:pPr>
            <a:r>
              <a:t>RINGKASAN EKSEKUTIF</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Empat Solusi Digital: Dari Brand Experience Hingga Sistem ERP</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4297680"/>
          </a:xfrm>
          <a:prstGeom prst="rect">
            <a:avLst/>
          </a:prstGeom>
          <a:noFill/>
        </p:spPr>
        <p:txBody>
          <a:bodyPr wrap="square" lIns="0" tIns="0" rIns="0" bIns="0">
            <a:spAutoFit/>
          </a:bodyPr>
          <a:lstStyle/>
          <a:p>
            <a:pPr>
              <a:defRPr sz="1000" b="1">
                <a:solidFill>
                  <a:srgbClr val="FBBF24"/>
                </a:solidFill>
              </a:defRPr>
            </a:pPr>
            <a:r>
              <a:t>PROYEK 01</a:t>
            </a:r>
          </a:p>
          <a:p>
            <a:pPr>
              <a:spcAft>
                <a:spcPts val="200"/>
              </a:spcAft>
              <a:defRPr sz="1700" b="1">
                <a:solidFill>
                  <a:srgbClr val="FFFFFF"/>
                </a:solidFill>
              </a:defRPr>
            </a:pPr>
            <a:r>
              <a:t>ChocoTea</a:t>
            </a:r>
          </a:p>
          <a:p>
            <a:pPr>
              <a:spcAft>
                <a:spcPts val="600"/>
              </a:spcAft>
              <a:defRPr sz="1050">
                <a:solidFill>
                  <a:srgbClr val="FBBF24"/>
                </a:solidFill>
              </a:defRPr>
            </a:pPr>
            <a:r>
              <a:t>Immersive Brand Experience</a:t>
            </a:r>
          </a:p>
          <a:p>
            <a:pPr>
              <a:spcAft>
                <a:spcPts val="1000"/>
              </a:spcAft>
              <a:defRPr sz="1000">
                <a:solidFill>
                  <a:srgbClr val="CBD5E1"/>
                </a:solidFill>
              </a:defRPr>
            </a:pPr>
            <a:r>
              <a:t>Landing page interaktif premium dengan animasi 3D scroll-driven GSAP &amp; Lenis.</a:t>
            </a:r>
          </a:p>
          <a:p>
            <a:pPr>
              <a:spcAft>
                <a:spcPts val="500"/>
              </a:spcAft>
              <a:defRPr sz="950">
                <a:solidFill>
                  <a:srgbClr val="A0AEC0"/>
                </a:solidFill>
              </a:defRPr>
            </a:pPr>
            <a:r>
              <a:t>• Animasi rotasi botol &amp; cipratan cairan tersinkronisasi scroll.</a:t>
            </a:r>
          </a:p>
          <a:p>
            <a:pPr>
              <a:spcAft>
                <a:spcPts val="500"/>
              </a:spcAft>
              <a:defRPr sz="950">
                <a:solidFill>
                  <a:srgbClr val="A0AEC0"/>
                </a:solidFill>
              </a:defRPr>
            </a:pPr>
            <a:r>
              <a:t>• Perubahan tema atmosferik real-time sesuai varian rasa.</a:t>
            </a:r>
          </a:p>
          <a:p>
            <a:pPr>
              <a:spcAft>
                <a:spcPts val="500"/>
              </a:spcAft>
              <a:defRPr sz="950">
                <a:solidFill>
                  <a:srgbClr val="A0AEC0"/>
                </a:solidFill>
              </a:defRPr>
            </a:pPr>
            <a:r>
              <a:t>• Momentum scrolling 60 FPS super halus berbasis Lenis Scroll.</a:t>
            </a:r>
          </a:p>
          <a:p>
            <a:pPr>
              <a:spcAft>
                <a:spcPts val="500"/>
              </a:spcAft>
              <a:defRPr sz="950">
                <a:solidFill>
                  <a:srgbClr val="A0AEC0"/>
                </a:solidFill>
              </a:defRPr>
            </a:pPr>
            <a:r>
              <a:t>• Multi-channel order modal (WhatsApp, GoFood, GrabFood, ShopeeFood).</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4297680"/>
          </a:xfrm>
          <a:prstGeom prst="rect">
            <a:avLst/>
          </a:prstGeom>
          <a:noFill/>
        </p:spPr>
        <p:txBody>
          <a:bodyPr wrap="square" lIns="0" tIns="0" rIns="0" bIns="0">
            <a:spAutoFit/>
          </a:bodyPr>
          <a:lstStyle/>
          <a:p>
            <a:pPr>
              <a:defRPr sz="1000" b="1">
                <a:solidFill>
                  <a:srgbClr val="38BDF8"/>
                </a:solidFill>
              </a:defRPr>
            </a:pPr>
            <a:r>
              <a:t>PROYEK 02</a:t>
            </a:r>
          </a:p>
          <a:p>
            <a:pPr>
              <a:spcAft>
                <a:spcPts val="200"/>
              </a:spcAft>
              <a:defRPr sz="1700" b="1">
                <a:solidFill>
                  <a:srgbClr val="FFFFFF"/>
                </a:solidFill>
              </a:defRPr>
            </a:pPr>
            <a:r>
              <a:t>Bandeng Freeze</a:t>
            </a:r>
          </a:p>
          <a:p>
            <a:pPr>
              <a:spcAft>
                <a:spcPts val="600"/>
              </a:spcAft>
              <a:defRPr sz="1050">
                <a:solidFill>
                  <a:srgbClr val="38BDF8"/>
                </a:solidFill>
              </a:defRPr>
            </a:pPr>
            <a:r>
              <a:t>High-Speed Seafood E-Commerce</a:t>
            </a:r>
          </a:p>
          <a:p>
            <a:pPr>
              <a:spcAft>
                <a:spcPts val="1000"/>
              </a:spcAft>
              <a:defRPr sz="1000">
                <a:solidFill>
                  <a:srgbClr val="CBD5E1"/>
                </a:solidFill>
              </a:defRPr>
            </a:pPr>
            <a:r>
              <a:t>Katalog online produk frozen food laut dengan identitas Clean Ocean Premium.</a:t>
            </a:r>
          </a:p>
          <a:p>
            <a:pPr>
              <a:spcAft>
                <a:spcPts val="500"/>
              </a:spcAft>
              <a:defRPr sz="950">
                <a:solidFill>
                  <a:srgbClr val="A0AEC0"/>
                </a:solidFill>
              </a:defRPr>
            </a:pPr>
            <a:r>
              <a:t>• Katalog produk interaktif dengan filtering instan via Framer Motion.</a:t>
            </a:r>
          </a:p>
          <a:p>
            <a:pPr>
              <a:spcAft>
                <a:spcPts val="500"/>
              </a:spcAft>
              <a:defRPr sz="950">
                <a:solidFill>
                  <a:srgbClr val="A0AEC0"/>
                </a:solidFill>
              </a:defRPr>
            </a:pPr>
            <a:r>
              <a:t>• Checkout sekali klik terintegrasi WhatsApp dengan rincian pesanan otomatis.</a:t>
            </a:r>
          </a:p>
          <a:p>
            <a:pPr>
              <a:spcAft>
                <a:spcPts val="500"/>
              </a:spcAft>
              <a:defRPr sz="950">
                <a:solidFill>
                  <a:srgbClr val="A0AEC0"/>
                </a:solidFill>
              </a:defRPr>
            </a:pPr>
            <a:r>
              <a:t>• Lightbox modal detail produk beresolusi tinggi.</a:t>
            </a:r>
          </a:p>
          <a:p>
            <a:pPr>
              <a:spcAft>
                <a:spcPts val="500"/>
              </a:spcAft>
              <a:defRPr sz="950">
                <a:solidFill>
                  <a:srgbClr val="A0AEC0"/>
                </a:solidFill>
              </a:defRPr>
            </a:pPr>
            <a:r>
              <a:t>• Accordion FAQ interaktif panduan penyimpanan &amp; pengiriman.</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4297680"/>
          </a:xfrm>
          <a:prstGeom prst="rect">
            <a:avLst/>
          </a:prstGeom>
          <a:noFill/>
        </p:spPr>
        <p:txBody>
          <a:bodyPr wrap="square" lIns="0" tIns="0" rIns="0" bIns="0">
            <a:spAutoFit/>
          </a:bodyPr>
          <a:lstStyle/>
          <a:p>
            <a:pPr>
              <a:defRPr sz="1000" b="1">
                <a:solidFill>
                  <a:srgbClr val="F43F5E"/>
                </a:solidFill>
              </a:defRPr>
            </a:pPr>
            <a:r>
              <a:t>PROYEK 03</a:t>
            </a:r>
          </a:p>
          <a:p>
            <a:pPr>
              <a:spcAft>
                <a:spcPts val="200"/>
              </a:spcAft>
              <a:defRPr sz="1700" b="1">
                <a:solidFill>
                  <a:srgbClr val="FFFFFF"/>
                </a:solidFill>
              </a:defRPr>
            </a:pPr>
            <a:r>
              <a:t>PawMart POS</a:t>
            </a:r>
          </a:p>
          <a:p>
            <a:pPr>
              <a:spcAft>
                <a:spcPts val="600"/>
              </a:spcAft>
              <a:defRPr sz="1050">
                <a:solidFill>
                  <a:srgbClr val="F43F5E"/>
                </a:solidFill>
              </a:defRPr>
            </a:pPr>
            <a:r>
              <a:t>Pet Shop &amp; Care Management ERP</a:t>
            </a:r>
          </a:p>
          <a:p>
            <a:pPr>
              <a:spcAft>
                <a:spcPts val="1000"/>
              </a:spcAft>
              <a:defRPr sz="1000">
                <a:solidFill>
                  <a:srgbClr val="CBD5E1"/>
                </a:solidFill>
              </a:defRPr>
            </a:pPr>
            <a:r>
              <a:t>Aplikasi kasir &amp; manajemen operasional terpadu khusus industri pet care modern.</a:t>
            </a:r>
          </a:p>
          <a:p>
            <a:pPr>
              <a:spcAft>
                <a:spcPts val="500"/>
              </a:spcAft>
              <a:defRPr sz="950">
                <a:solidFill>
                  <a:srgbClr val="A0AEC0"/>
                </a:solidFill>
              </a:defRPr>
            </a:pPr>
            <a:r>
              <a:t>• Terminal kasir POS cepat: barcode scan, split payment, cetak struk.</a:t>
            </a:r>
          </a:p>
          <a:p>
            <a:pPr>
              <a:spcAft>
                <a:spcPts val="500"/>
              </a:spcAft>
              <a:defRPr sz="950">
                <a:solidFill>
                  <a:srgbClr val="A0AEC0"/>
                </a:solidFill>
              </a:defRPr>
            </a:pPr>
            <a:r>
              <a:t>• Manajemen antrean layanan grooming &amp; penetapan teknisi.</a:t>
            </a:r>
          </a:p>
          <a:p>
            <a:pPr>
              <a:spcAft>
                <a:spcPts val="500"/>
              </a:spcAft>
              <a:defRPr sz="950">
                <a:solidFill>
                  <a:srgbClr val="A0AEC0"/>
                </a:solidFill>
              </a:defRPr>
            </a:pPr>
            <a:r>
              <a:t>• Denah visual pet hotel boarding untuk memantau okupansi kandang.</a:t>
            </a:r>
          </a:p>
          <a:p>
            <a:pPr>
              <a:spcAft>
                <a:spcPts val="500"/>
              </a:spcAft>
              <a:defRPr sz="950">
                <a:solidFill>
                  <a:srgbClr val="A0AEC0"/>
                </a:solidFill>
              </a:defRPr>
            </a:pPr>
            <a:r>
              <a:t>• Loyalty club: progres tier member &amp; kupon diskon pelanggan setia.</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4297680"/>
          </a:xfrm>
          <a:prstGeom prst="rect">
            <a:avLst/>
          </a:prstGeom>
          <a:noFill/>
        </p:spPr>
        <p:txBody>
          <a:bodyPr wrap="square" lIns="0" tIns="0" rIns="0" bIns="0">
            <a:spAutoFit/>
          </a:bodyPr>
          <a:lstStyle/>
          <a:p>
            <a:pPr>
              <a:defRPr sz="1000" b="1">
                <a:solidFill>
                  <a:srgbClr val="34D399"/>
                </a:solidFill>
              </a:defRPr>
            </a:pPr>
            <a:r>
              <a:t>PROYEK 04</a:t>
            </a:r>
          </a:p>
          <a:p>
            <a:pPr>
              <a:spcAft>
                <a:spcPts val="200"/>
              </a:spcAft>
              <a:defRPr sz="1700" b="1">
                <a:solidFill>
                  <a:srgbClr val="FFFFFF"/>
                </a:solidFill>
              </a:defRPr>
            </a:pPr>
            <a:r>
              <a:t>CampRent</a:t>
            </a:r>
          </a:p>
          <a:p>
            <a:pPr>
              <a:spcAft>
                <a:spcPts val="600"/>
              </a:spcAft>
              <a:defRPr sz="1050">
                <a:solidFill>
                  <a:srgbClr val="34D399"/>
                </a:solidFill>
              </a:defRPr>
            </a:pPr>
            <a:r>
              <a:t>Outdoor Gear Rental Platform</a:t>
            </a:r>
          </a:p>
          <a:p>
            <a:pPr>
              <a:spcAft>
                <a:spcPts val="1000"/>
              </a:spcAft>
              <a:defRPr sz="1000">
                <a:solidFill>
                  <a:srgbClr val="CBD5E1"/>
                </a:solidFill>
              </a:defRPr>
            </a:pPr>
            <a:r>
              <a:t>Sistem persewaan alat camping &amp; outdoor berbasis ketersediaan unit dan tanggal sewa.</a:t>
            </a:r>
          </a:p>
          <a:p>
            <a:pPr>
              <a:spcAft>
                <a:spcPts val="500"/>
              </a:spcAft>
              <a:defRPr sz="950">
                <a:solidFill>
                  <a:srgbClr val="A0AEC0"/>
                </a:solidFill>
              </a:defRPr>
            </a:pPr>
            <a:r>
              <a:t>• Date-based availability: hitung stok unit fisik per tanggal sewa.</a:t>
            </a:r>
          </a:p>
          <a:p>
            <a:pPr>
              <a:spcAft>
                <a:spcPts val="500"/>
              </a:spcAft>
              <a:defRPr sz="950">
                <a:solidFill>
                  <a:srgbClr val="A0AEC0"/>
                </a:solidFill>
              </a:defRPr>
            </a:pPr>
            <a:r>
              <a:t>• Pelacakan siklus sewa lengkap: booking, pickup, sewa, pengembalian.</a:t>
            </a:r>
          </a:p>
          <a:p>
            <a:pPr>
              <a:spcAft>
                <a:spcPts val="500"/>
              </a:spcAft>
              <a:defRPr sz="950">
                <a:solidFill>
                  <a:srgbClr val="A0AEC0"/>
                </a:solidFill>
              </a:defRPr>
            </a:pPr>
            <a:r>
              <a:t>• Role-based multi-tier: Tamu, Customer, Staff, dan Owner.</a:t>
            </a:r>
          </a:p>
          <a:p>
            <a:pPr>
              <a:spcAft>
                <a:spcPts val="500"/>
              </a:spcAft>
              <a:defRPr sz="950">
                <a:solidFill>
                  <a:srgbClr val="A0AEC0"/>
                </a:solidFill>
              </a:defRPr>
            </a:pPr>
            <a:r>
              <a:t>• Inspeksi fisik barang, deposit jaminan KTP/SIM, &amp; kalkulasi denda.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PRINSIP REKAYASA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Arsitektur Kode, Performa, &amp; Desain Responsif</a:t>
            </a:r>
          </a:p>
        </p:txBody>
      </p:sp>
      <p:sp>
        <p:nvSpPr>
          <p:cNvPr id="5" name="Rounded Rectangle 4"/>
          <p:cNvSpPr/>
          <p:nvPr/>
        </p:nvSpPr>
        <p:spPr>
          <a:xfrm>
            <a:off x="731520" y="1645920"/>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68680"/>
          </a:xfrm>
          <a:prstGeom prst="rect">
            <a:avLst/>
          </a:prstGeom>
          <a:noFill/>
        </p:spPr>
        <p:txBody>
          <a:bodyPr wrap="square" lIns="0" tIns="0" rIns="0" bIns="0">
            <a:spAutoFit/>
          </a:bodyPr>
          <a:lstStyle/>
          <a:p>
            <a:pPr>
              <a:defRPr sz="1000" b="1">
                <a:solidFill>
                  <a:srgbClr val="38BDF8"/>
                </a:solidFill>
              </a:defRPr>
            </a:pPr>
            <a:r>
              <a:t>1. 60 FPS FLUID MICRO-INTERACTIONS</a:t>
            </a:r>
          </a:p>
          <a:p>
            <a:pPr>
              <a:spcAft>
                <a:spcPts val="200"/>
              </a:spcAft>
              <a:defRPr sz="1300" b="1">
                <a:solidFill>
                  <a:srgbClr val="FFFFFF"/>
                </a:solidFill>
              </a:defRPr>
            </a:pPr>
            <a:r>
              <a:t>GSAP ScrollTrigger, Lenis &amp; Framer Motion</a:t>
            </a:r>
          </a:p>
          <a:p>
            <a:pPr>
              <a:defRPr sz="1050">
                <a:solidFill>
                  <a:srgbClr val="A0AEC0"/>
                </a:solidFill>
              </a:defRPr>
            </a:pPr>
            <a:r>
              <a:t>Menghadirkan transisi animasi yang halus, interaksi berbasis scroll tanpa lagging, serta kepatuhan penuh pada prefers-reduced-motion untuk aksesibilitas.</a:t>
            </a:r>
          </a:p>
        </p:txBody>
      </p:sp>
      <p:sp>
        <p:nvSpPr>
          <p:cNvPr id="7" name="Rounded Rectangle 6"/>
          <p:cNvSpPr/>
          <p:nvPr/>
        </p:nvSpPr>
        <p:spPr>
          <a:xfrm>
            <a:off x="731520" y="2816352"/>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10149840" cy="868680"/>
          </a:xfrm>
          <a:prstGeom prst="rect">
            <a:avLst/>
          </a:prstGeom>
          <a:noFill/>
        </p:spPr>
        <p:txBody>
          <a:bodyPr wrap="square" lIns="0" tIns="0" rIns="0" bIns="0">
            <a:spAutoFit/>
          </a:bodyPr>
          <a:lstStyle/>
          <a:p>
            <a:pPr>
              <a:defRPr sz="1000" b="1">
                <a:solidFill>
                  <a:srgbClr val="38BDF8"/>
                </a:solidFill>
              </a:defRPr>
            </a:pPr>
            <a:r>
              <a:t>2. TYPE-SAFE &amp; SCALABLE FOUNDATION</a:t>
            </a:r>
          </a:p>
          <a:p>
            <a:pPr>
              <a:spcAft>
                <a:spcPts val="200"/>
              </a:spcAft>
              <a:defRPr sz="1300" b="1">
                <a:solidFill>
                  <a:srgbClr val="FFFFFF"/>
                </a:solidFill>
              </a:defRPr>
            </a:pPr>
            <a:r>
              <a:t>Next.js 15, React 18 &amp; TypeScript</a:t>
            </a:r>
          </a:p>
          <a:p>
            <a:pPr>
              <a:defRPr sz="1050">
                <a:solidFill>
                  <a:srgbClr val="A0AEC0"/>
                </a:solidFill>
              </a:defRPr>
            </a:pPr>
            <a:r>
              <a:t>Menghilangkan runtime error melalui static type checking, arsitektur komponen modular yang mudah dirawat, dan Server Components untuk rendering cepat.</a:t>
            </a:r>
          </a:p>
        </p:txBody>
      </p:sp>
      <p:sp>
        <p:nvSpPr>
          <p:cNvPr id="9" name="Rounded Rectangle 8"/>
          <p:cNvSpPr/>
          <p:nvPr/>
        </p:nvSpPr>
        <p:spPr>
          <a:xfrm>
            <a:off x="731520" y="3986784"/>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96512"/>
            <a:ext cx="10149840" cy="868680"/>
          </a:xfrm>
          <a:prstGeom prst="rect">
            <a:avLst/>
          </a:prstGeom>
          <a:noFill/>
        </p:spPr>
        <p:txBody>
          <a:bodyPr wrap="square" lIns="0" tIns="0" rIns="0" bIns="0">
            <a:spAutoFit/>
          </a:bodyPr>
          <a:lstStyle/>
          <a:p>
            <a:pPr>
              <a:defRPr sz="1000" b="1">
                <a:solidFill>
                  <a:srgbClr val="38BDF8"/>
                </a:solidFill>
              </a:defRPr>
            </a:pPr>
            <a:r>
              <a:t>3. DATA INTEGRITY &amp; ORM MODELLING</a:t>
            </a:r>
          </a:p>
          <a:p>
            <a:pPr>
              <a:spcAft>
                <a:spcPts val="200"/>
              </a:spcAft>
              <a:defRPr sz="1300" b="1">
                <a:solidFill>
                  <a:srgbClr val="FFFFFF"/>
                </a:solidFill>
              </a:defRPr>
            </a:pPr>
            <a:r>
              <a:t>Prisma ORM, Supabase &amp; PostgreSQL</a:t>
            </a:r>
          </a:p>
          <a:p>
            <a:pPr>
              <a:defRPr sz="1050">
                <a:solidFill>
                  <a:srgbClr val="A0AEC0"/>
                </a:solidFill>
              </a:defRPr>
            </a:pPr>
            <a:r>
              <a:t>Pemodelan skema relasional yang ketat untuk mengelola unit fisik, status transaksi, membership loyalty, dan pencegahan double-booking inventaris.</a:t>
            </a:r>
          </a:p>
        </p:txBody>
      </p:sp>
      <p:sp>
        <p:nvSpPr>
          <p:cNvPr id="11" name="Rounded Rectangle 10"/>
          <p:cNvSpPr/>
          <p:nvPr/>
        </p:nvSpPr>
        <p:spPr>
          <a:xfrm>
            <a:off x="731520" y="5157216"/>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66944"/>
            <a:ext cx="10149840" cy="868680"/>
          </a:xfrm>
          <a:prstGeom prst="rect">
            <a:avLst/>
          </a:prstGeom>
          <a:noFill/>
        </p:spPr>
        <p:txBody>
          <a:bodyPr wrap="square" lIns="0" tIns="0" rIns="0" bIns="0">
            <a:spAutoFit/>
          </a:bodyPr>
          <a:lstStyle/>
          <a:p>
            <a:pPr>
              <a:defRPr sz="1000" b="1">
                <a:solidFill>
                  <a:srgbClr val="38BDF8"/>
                </a:solidFill>
              </a:defRPr>
            </a:pPr>
            <a:r>
              <a:t>4. FRICTIONLESS CONVERSION &amp; INTEGRATION</a:t>
            </a:r>
          </a:p>
          <a:p>
            <a:pPr>
              <a:spcAft>
                <a:spcPts val="200"/>
              </a:spcAft>
              <a:defRPr sz="1300" b="1">
                <a:solidFill>
                  <a:srgbClr val="FFFFFF"/>
                </a:solidFill>
              </a:defRPr>
            </a:pPr>
            <a:r>
              <a:t>WhatsApp Direct Ordering &amp; Multi-Platform Delivery</a:t>
            </a:r>
          </a:p>
          <a:p>
            <a:pPr>
              <a:defRPr sz="1050">
                <a:solidFill>
                  <a:srgbClr val="A0AEC0"/>
                </a:solidFill>
              </a:defRPr>
            </a:pPr>
            <a:r>
              <a:t>Mempersingkat alur checkout pelanggan: pesan langsung terkonversi menjadi format WhatsApp instan atau routing ke food delivery partner tanpa hambatan form berbelit.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FBBF24"/>
                </a:solidFill>
              </a:defRPr>
            </a:pPr>
            <a:r>
              <a:t>PROYEK 01: CHOCOTEA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Landing Page Pengalaman Imersif Produk Fusion Chocolate &amp; Tea</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FBBF24"/>
                </a:solidFill>
              </a:defRPr>
            </a:pPr>
            <a:r>
              <a:t>KONSEP DESAIN &amp; VISUALISASI</a:t>
            </a:r>
          </a:p>
          <a:p>
            <a:pPr>
              <a:spcAft>
                <a:spcPts val="1000"/>
              </a:spcAft>
              <a:defRPr sz="1150">
                <a:solidFill>
                  <a:srgbClr val="CBD5E1"/>
                </a:solidFill>
              </a:defRPr>
            </a:pPr>
            <a:r>
              <a:t>ChocoTea dirancang untuk menghadirkan kesan mewah dan menggugah selera bagi produk minuman fusion cokelat dan teh premium. Tidak sekadar halaman web statis, situs ini menjadi 'digital showroom' tempat pengunjung merasakan atmosfer produk melalui animasi dinamis.</a:t>
            </a:r>
          </a:p>
          <a:p>
            <a:pPr>
              <a:defRPr sz="1100" b="1">
                <a:solidFill>
                  <a:srgbClr val="34D399"/>
                </a:solidFill>
              </a:defRPr>
            </a:pPr>
            <a:r>
              <a:t>FITUR UNGGULAN &amp; TEKNOLOGI</a:t>
            </a:r>
          </a:p>
          <a:p>
            <a:pPr>
              <a:spcAft>
                <a:spcPts val="500"/>
              </a:spcAft>
              <a:defRPr sz="1050">
                <a:solidFill>
                  <a:srgbClr val="A0AEC0"/>
                </a:solidFill>
              </a:defRPr>
            </a:pPr>
            <a:r>
              <a:t>✔  Scroll-Driven Bottle Dynamics: Rotasi botol produk dan cipratan cairan yang bergerak presisi mengikuti posisi scroll pengguna berkat GSAP ScrollTrigger.</a:t>
            </a:r>
          </a:p>
          <a:p>
            <a:pPr>
              <a:spcAft>
                <a:spcPts val="500"/>
              </a:spcAft>
              <a:defRPr sz="1050">
                <a:solidFill>
                  <a:srgbClr val="A0AEC0"/>
                </a:solidFill>
              </a:defRPr>
            </a:pPr>
            <a:r>
              <a:t>✔  Dynamic Atmosphere Theming: Palet warna latar belakang, aksen glow, dan elemen visual bertransisi mulus saat pengguna memilih varian rasa yang berbeda.</a:t>
            </a:r>
          </a:p>
          <a:p>
            <a:pPr>
              <a:spcAft>
                <a:spcPts val="500"/>
              </a:spcAft>
              <a:defRPr sz="1050">
                <a:solidFill>
                  <a:srgbClr val="A0AEC0"/>
                </a:solidFill>
              </a:defRPr>
            </a:pPr>
            <a:r>
              <a:t>✔  Lenis Smooth Momentum: Scroll terasa berbobot, mulus pada 60 FPS, menghilangkan jittering scroll pada perangkat desktop dan mobile.</a:t>
            </a:r>
          </a:p>
          <a:p>
            <a:pPr>
              <a:spcAft>
                <a:spcPts val="500"/>
              </a:spcAft>
              <a:defRPr sz="1050">
                <a:solidFill>
                  <a:srgbClr val="A0AEC0"/>
                </a:solidFill>
              </a:defRPr>
            </a:pPr>
            <a:r>
              <a:t>✔  Multi-Channel Delivery Checkout: Modal pemesanan instan yang menghubungkan pengunjung ke WhatsApp, GoFood, GrabFood, dan ShopeeFood.</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1927318"/>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Tampilan interaktif Hero &amp; Showcase ChocoTea (chocotea.vercel.app)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PROYEK 02: BANDENG FREEZE</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E-Commerce Seafood Beku Cepat dengan Integrasi Direct WhatsApp Order</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8BDF8"/>
                </a:solidFill>
              </a:defRPr>
            </a:pPr>
            <a:r>
              <a:t>MASALAH BISNIS UMKM SEAFOOD &amp; SOLUSI</a:t>
            </a:r>
          </a:p>
          <a:p>
            <a:pPr>
              <a:spcAft>
                <a:spcPts val="1000"/>
              </a:spcAft>
              <a:defRPr sz="1150">
                <a:solidFill>
                  <a:srgbClr val="CBD5E1"/>
                </a:solidFill>
              </a:defRPr>
            </a:pPr>
            <a:r>
              <a:t>Banyak UMKM produk olahan bandeng dan seafood beku mengalami kendala: etalase digital yang lambat diakses di smartphone dan alur pembelian rumit yang membuat calon pembeli batal bertransaksi. Bandeng Freeze hadir dengan konsep 'Clean Ocean Premium' yang ringan, cepat, dan berorientasi konversi.</a:t>
            </a:r>
          </a:p>
          <a:p>
            <a:pPr>
              <a:defRPr sz="1100" b="1">
                <a:solidFill>
                  <a:srgbClr val="34D399"/>
                </a:solidFill>
              </a:defRPr>
            </a:pPr>
            <a:r>
              <a:t>FITUR KUNCI PEMACU TRANSAKSI</a:t>
            </a:r>
          </a:p>
          <a:p>
            <a:pPr>
              <a:spcAft>
                <a:spcPts val="500"/>
              </a:spcAft>
              <a:defRPr sz="1050">
                <a:solidFill>
                  <a:srgbClr val="A0AEC0"/>
                </a:solidFill>
              </a:defRPr>
            </a:pPr>
            <a:r>
              <a:t>✔  Katalog Produk Filterable: Filter instan tanpa reload halaman untuk kategori Bandeng Cabut Duri, Udang Vaname, dan Ikan Laut Olahan via AnimatePresence.</a:t>
            </a:r>
          </a:p>
          <a:p>
            <a:pPr>
              <a:spcAft>
                <a:spcPts val="500"/>
              </a:spcAft>
              <a:defRPr sz="1050">
                <a:solidFill>
                  <a:srgbClr val="A0AEC0"/>
                </a:solidFill>
              </a:defRPr>
            </a:pPr>
            <a:r>
              <a:t>✔  One-Click WhatsApp Checkout: Tombol pesan langsung menyusun pesan chat WhatsApp otomatis yang memuat nama produk, kuantitas, dan varian yang dipilih.</a:t>
            </a:r>
          </a:p>
          <a:p>
            <a:pPr>
              <a:spcAft>
                <a:spcPts val="500"/>
              </a:spcAft>
              <a:defRPr sz="1050">
                <a:solidFill>
                  <a:srgbClr val="A0AEC0"/>
                </a:solidFill>
              </a:defRPr>
            </a:pPr>
            <a:r>
              <a:t>✔  Product Lightbox Modal: Tampilan foto produk resolusi tinggi dengan rincian berat bersih, sertifikasi halal, dan masa kedaluwarsa beku.</a:t>
            </a:r>
          </a:p>
          <a:p>
            <a:pPr>
              <a:spcAft>
                <a:spcPts val="500"/>
              </a:spcAft>
              <a:defRPr sz="1050">
                <a:solidFill>
                  <a:srgbClr val="A0AEC0"/>
                </a:solidFill>
              </a:defRPr>
            </a:pPr>
            <a:r>
              <a:t>✔  Accordion FAQ &amp; Storage Guide: Panduan interaktif cara mencairkan (thawing), menyimpan di freezer, dan estimasi waktu ekspedisi kurir pendingin.</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1893683"/>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Etalase katalog bersih Bandeng Freeze (bandengfrezzz-cfk8.vercel.app)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F43F5E"/>
                </a:solidFill>
              </a:defRPr>
            </a:pPr>
            <a:r>
              <a:t>PROYEK 03: PAWMART POS</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Aplikasi Kasir &amp; ERP Manajemen Pet Shop &amp; Pet Care Terpadu</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F43F5E"/>
                </a:solidFill>
              </a:defRPr>
            </a:pPr>
            <a:r>
              <a:t>TANTANGAN BISNIS PET SHOP &amp; KLINIK HEWAN</a:t>
            </a:r>
          </a:p>
          <a:p>
            <a:pPr>
              <a:spcAft>
                <a:spcPts val="1000"/>
              </a:spcAft>
              <a:defRPr sz="1150">
                <a:solidFill>
                  <a:srgbClr val="CBD5E1"/>
                </a:solidFill>
              </a:defRPr>
            </a:pPr>
            <a:r>
              <a:t>Pet shop modern tidak hanya menjual makanan dan aksesoris retail, namun juga menawarkan jasa salon grooming dan penitipan hotel hewan. Menggunakan sistem terpisah menyebabkan antrean kasir macet, catatan jadwal grooming tumpang tindih, dan status kamar hewan tidak terpantau.</a:t>
            </a:r>
          </a:p>
          <a:p>
            <a:pPr>
              <a:defRPr sz="1100" b="1">
                <a:solidFill>
                  <a:srgbClr val="34D399"/>
                </a:solidFill>
              </a:defRPr>
            </a:pPr>
            <a:r>
              <a:t>SOLUSI ALL-IN-ONE PAWMART POS</a:t>
            </a:r>
          </a:p>
          <a:p>
            <a:pPr>
              <a:spcAft>
                <a:spcPts val="500"/>
              </a:spcAft>
              <a:defRPr sz="1050">
                <a:solidFill>
                  <a:srgbClr val="A0AEC0"/>
                </a:solidFill>
              </a:defRPr>
            </a:pPr>
            <a:r>
              <a:t>✔  Terminal Kasir Retail Cepat: Pencarian barang instan, dukungan barcode scanning, split payment (tunai, QRIS, debit), dan kalkulasi pajak otomatis.</a:t>
            </a:r>
          </a:p>
          <a:p>
            <a:pPr>
              <a:spcAft>
                <a:spcPts val="500"/>
              </a:spcAft>
              <a:defRPr sz="1050">
                <a:solidFill>
                  <a:srgbClr val="A0AEC0"/>
                </a:solidFill>
              </a:defRPr>
            </a:pPr>
            <a:r>
              <a:t>✔  Antrean Grooming Terstruktur: Pelacakan progres perawatan hewan (antre, mandi, gunting, selesai) dengan penugasan teknisi/groomer.</a:t>
            </a:r>
          </a:p>
          <a:p>
            <a:pPr>
              <a:spcAft>
                <a:spcPts val="500"/>
              </a:spcAft>
              <a:defRPr sz="1050">
                <a:solidFill>
                  <a:srgbClr val="A0AEC0"/>
                </a:solidFill>
              </a:defRPr>
            </a:pPr>
            <a:r>
              <a:t>✔  Denah Visual Pet Boarding: Grid kamar interaktif untuk memonitor ketersediaan kandang, jadwal check-in/out, dan kebutuhan pakan khusus hewan.</a:t>
            </a:r>
          </a:p>
          <a:p>
            <a:pPr>
              <a:spcAft>
                <a:spcPts val="500"/>
              </a:spcAft>
              <a:defRPr sz="1050">
                <a:solidFill>
                  <a:srgbClr val="A0AEC0"/>
                </a:solidFill>
              </a:defRPr>
            </a:pPr>
            <a:r>
              <a:t>✔  Customer Loyalty Club: Manajemen keanggotaan pelanggan, pengumpulan poin reward belanja, dan penukaran voucher potongan harga.</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2400300"/>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Dashboard operasional &amp; POS PawMart (paw-mart-nine.vercel.app)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F43F5E"/>
                </a:solidFill>
              </a:defRPr>
            </a:pPr>
            <a:r>
              <a:t>PROYEK 03: PAWMART POS</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Modul Operasional: Kasir, Grooming, Hotel Hewan, &amp; Loyalitas</a:t>
            </a:r>
          </a:p>
        </p:txBody>
      </p:sp>
      <p:sp>
        <p:nvSpPr>
          <p:cNvPr id="5" name="Rounded Rectangle 4"/>
          <p:cNvSpPr/>
          <p:nvPr/>
        </p:nvSpPr>
        <p:spPr>
          <a:xfrm>
            <a:off x="73152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800600" cy="1737360"/>
          </a:xfrm>
          <a:prstGeom prst="rect">
            <a:avLst/>
          </a:prstGeom>
          <a:noFill/>
        </p:spPr>
        <p:txBody>
          <a:bodyPr wrap="square" lIns="0" tIns="0" rIns="0" bIns="0">
            <a:spAutoFit/>
          </a:bodyPr>
          <a:lstStyle/>
          <a:p>
            <a:pPr>
              <a:defRPr sz="1000" b="1">
                <a:solidFill>
                  <a:srgbClr val="F43F5E"/>
                </a:solidFill>
              </a:defRPr>
            </a:pPr>
            <a:r>
              <a:t>MODUL 1</a:t>
            </a:r>
          </a:p>
          <a:p>
            <a:pPr>
              <a:spcAft>
                <a:spcPts val="600"/>
              </a:spcAft>
              <a:defRPr sz="1400" b="1">
                <a:solidFill>
                  <a:srgbClr val="FFFFFF"/>
                </a:solidFill>
              </a:defRPr>
            </a:pPr>
            <a:r>
              <a:t>Terminal Kasir &amp; Penjualan Retail</a:t>
            </a:r>
          </a:p>
          <a:p>
            <a:pPr>
              <a:defRPr sz="1100">
                <a:solidFill>
                  <a:srgbClr val="CBD5E1"/>
                </a:solidFill>
              </a:defRPr>
            </a:pPr>
            <a:r>
              <a:t>Mendukung transaksi super cepat kasir, diskon item, pencarian produk instan, cetak struk termal, dan penyesuaian stok real-time saat transaksi selesai.</a:t>
            </a:r>
          </a:p>
        </p:txBody>
      </p:sp>
      <p:sp>
        <p:nvSpPr>
          <p:cNvPr id="7" name="Rounded Rectangle 6"/>
          <p:cNvSpPr/>
          <p:nvPr/>
        </p:nvSpPr>
        <p:spPr>
          <a:xfrm>
            <a:off x="617220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00600" cy="1737360"/>
          </a:xfrm>
          <a:prstGeom prst="rect">
            <a:avLst/>
          </a:prstGeom>
          <a:noFill/>
        </p:spPr>
        <p:txBody>
          <a:bodyPr wrap="square" lIns="0" tIns="0" rIns="0" bIns="0">
            <a:spAutoFit/>
          </a:bodyPr>
          <a:lstStyle/>
          <a:p>
            <a:pPr>
              <a:defRPr sz="1000" b="1">
                <a:solidFill>
                  <a:srgbClr val="F43F5E"/>
                </a:solidFill>
              </a:defRPr>
            </a:pPr>
            <a:r>
              <a:t>MODUL 2</a:t>
            </a:r>
          </a:p>
          <a:p>
            <a:pPr>
              <a:spcAft>
                <a:spcPts val="600"/>
              </a:spcAft>
              <a:defRPr sz="1400" b="1">
                <a:solidFill>
                  <a:srgbClr val="FFFFFF"/>
                </a:solidFill>
              </a:defRPr>
            </a:pPr>
            <a:r>
              <a:t>Layanan Antrean Grooming</a:t>
            </a:r>
          </a:p>
          <a:p>
            <a:pPr>
              <a:defRPr sz="1100">
                <a:solidFill>
                  <a:srgbClr val="CBD5E1"/>
                </a:solidFill>
              </a:defRPr>
            </a:pPr>
            <a:r>
              <a:t>Pencatatan jenis paket perawatan (Basic, Medicated, Full Grooming), estimasi durasi pengerjaan, dan pencatatan riwayat alergi hewan peliharaan.</a:t>
            </a:r>
          </a:p>
        </p:txBody>
      </p:sp>
      <p:sp>
        <p:nvSpPr>
          <p:cNvPr id="9" name="Rounded Rectangle 8"/>
          <p:cNvSpPr/>
          <p:nvPr/>
        </p:nvSpPr>
        <p:spPr>
          <a:xfrm>
            <a:off x="73152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800600" cy="1737360"/>
          </a:xfrm>
          <a:prstGeom prst="rect">
            <a:avLst/>
          </a:prstGeom>
          <a:noFill/>
        </p:spPr>
        <p:txBody>
          <a:bodyPr wrap="square" lIns="0" tIns="0" rIns="0" bIns="0">
            <a:spAutoFit/>
          </a:bodyPr>
          <a:lstStyle/>
          <a:p>
            <a:pPr>
              <a:defRPr sz="1000" b="1">
                <a:solidFill>
                  <a:srgbClr val="F43F5E"/>
                </a:solidFill>
              </a:defRPr>
            </a:pPr>
            <a:r>
              <a:t>MODUL 3</a:t>
            </a:r>
          </a:p>
          <a:p>
            <a:pPr>
              <a:spcAft>
                <a:spcPts val="600"/>
              </a:spcAft>
              <a:defRPr sz="1400" b="1">
                <a:solidFill>
                  <a:srgbClr val="FFFFFF"/>
                </a:solidFill>
              </a:defRPr>
            </a:pPr>
            <a:r>
              <a:t>Peta Okupansi Pet Boarding</a:t>
            </a:r>
          </a:p>
          <a:p>
            <a:pPr>
              <a:defRPr sz="1100">
                <a:solidFill>
                  <a:srgbClr val="CBD5E1"/>
                </a:solidFill>
              </a:defRPr>
            </a:pPr>
            <a:r>
              <a:t>Grid visual kamar kucing &amp; anjing. Dilengkapi status terisi/kosong, jadwal pemberian obat khusus, serta tanggal kepulangan agar kapasitas tidak overbooked.</a:t>
            </a:r>
          </a:p>
        </p:txBody>
      </p:sp>
      <p:sp>
        <p:nvSpPr>
          <p:cNvPr id="11" name="Rounded Rectangle 10"/>
          <p:cNvSpPr/>
          <p:nvPr/>
        </p:nvSpPr>
        <p:spPr>
          <a:xfrm>
            <a:off x="617220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800"/>
            <a:ext cx="4800600" cy="1737360"/>
          </a:xfrm>
          <a:prstGeom prst="rect">
            <a:avLst/>
          </a:prstGeom>
          <a:noFill/>
        </p:spPr>
        <p:txBody>
          <a:bodyPr wrap="square" lIns="0" tIns="0" rIns="0" bIns="0">
            <a:spAutoFit/>
          </a:bodyPr>
          <a:lstStyle/>
          <a:p>
            <a:pPr>
              <a:defRPr sz="1000" b="1">
                <a:solidFill>
                  <a:srgbClr val="F43F5E"/>
                </a:solidFill>
              </a:defRPr>
            </a:pPr>
            <a:r>
              <a:t>MODUL 4</a:t>
            </a:r>
          </a:p>
          <a:p>
            <a:pPr>
              <a:spcAft>
                <a:spcPts val="600"/>
              </a:spcAft>
              <a:defRPr sz="1400" b="1">
                <a:solidFill>
                  <a:srgbClr val="FFFFFF"/>
                </a:solidFill>
              </a:defRPr>
            </a:pPr>
            <a:r>
              <a:t>Membership &amp; Loyalty Rewards</a:t>
            </a:r>
          </a:p>
          <a:p>
            <a:pPr>
              <a:defRPr sz="1100">
                <a:solidFill>
                  <a:srgbClr val="CBD5E1"/>
                </a:solidFill>
              </a:defRPr>
            </a:pPr>
            <a:r>
              <a:t>Pencatatan profil pemilik dan nama hewan peliharaan, akumulasi poin transaksi, serta promosi otomatis pada hari ulang tahun hewan.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4D399"/>
                </a:solidFill>
              </a:defRPr>
            </a:pPr>
            <a:r>
              <a:t>PROYEK 04: CAMPRENT</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Platform Manajemen Persewaan Peralatan Outdoor &amp; Camping</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4D399"/>
                </a:solidFill>
              </a:defRPr>
            </a:pPr>
            <a:r>
              <a:t>TANTANGAN MANAJEMEN SEWA PERALATAN OUTDOOR</a:t>
            </a:r>
          </a:p>
          <a:p>
            <a:pPr>
              <a:spcAft>
                <a:spcPts val="1000"/>
              </a:spcAft>
              <a:defRPr sz="1150">
                <a:solidFill>
                  <a:srgbClr val="CBD5E1"/>
                </a:solidFill>
              </a:defRPr>
            </a:pPr>
            <a:r>
              <a:t>Bisnis rental tenda dan alat camping menghadapi tantangan unik: stok bersifat dinamis berdasarkan rentang tanggal penggunaan. Mencatat jumlah stok secara statis sering berakibat tenda disewakan kepada 2 penyewa di akhir pekan yang sama. Selain itu, pengecekan kerusakan barang dan jaminan KTP rawan terlewat.</a:t>
            </a:r>
          </a:p>
          <a:p>
            <a:pPr>
              <a:defRPr sz="1100" b="1">
                <a:solidFill>
                  <a:srgbClr val="38BDF8"/>
                </a:solidFill>
              </a:defRPr>
            </a:pPr>
            <a:r>
              <a:t>SOLUSI SISTEMATIS CAMPRENT</a:t>
            </a:r>
          </a:p>
          <a:p>
            <a:pPr>
              <a:spcAft>
                <a:spcPts val="500"/>
              </a:spcAft>
              <a:defRPr sz="1050">
                <a:solidFill>
                  <a:srgbClr val="A0AEC0"/>
                </a:solidFill>
              </a:defRPr>
            </a:pPr>
            <a:r>
              <a:t>✔  Date-and-Unit Availability Engine: Menghitung ketersediaan unit tenda/alat fisik secara spesifik berdasarkan rentang tanggal mulai dan selesai sewa.</a:t>
            </a:r>
          </a:p>
          <a:p>
            <a:pPr>
              <a:spcAft>
                <a:spcPts val="500"/>
              </a:spcAft>
              <a:defRPr sz="1050">
                <a:solidFill>
                  <a:srgbClr val="A0AEC0"/>
                </a:solidFill>
              </a:defRPr>
            </a:pPr>
            <a:r>
              <a:t>✔  Pelacakan Daur Hidup Lengkap: Status pesanan otomatis (Pending -&gt; Paid -&gt; Ready for Pickup -&gt; Rented -&gt; Returning -&gt; Completed).</a:t>
            </a:r>
          </a:p>
          <a:p>
            <a:pPr>
              <a:spcAft>
                <a:spcPts val="500"/>
              </a:spcAft>
              <a:defRPr sz="1050">
                <a:solidFill>
                  <a:srgbClr val="A0AEC0"/>
                </a:solidFill>
              </a:defRPr>
            </a:pPr>
            <a:r>
              <a:t>✔  Role-Based Multi-Tier Architecture: Tampilan terdedikasi untuk Customer (booking), Staff (inspeksi fisik &amp; serah terima), dan Owner (laporan keuangan).</a:t>
            </a:r>
          </a:p>
          <a:p>
            <a:pPr>
              <a:spcAft>
                <a:spcPts val="500"/>
              </a:spcAft>
              <a:defRPr sz="1050">
                <a:solidFill>
                  <a:srgbClr val="A0AEC0"/>
                </a:solidFill>
              </a:defRPr>
            </a:pPr>
            <a:r>
              <a:t>✔  Inspeksi Fisik &amp; Jaminan Identitas: Checklist kelengkapan alat (pasak, frame tenda) sebelum serah terima dan kalkulasi denda kerusakan/keterlambatan.</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1828800"/>
            <a:ext cx="3840480" cy="2460308"/>
          </a:xfrm>
          <a:prstGeom prst="rect">
            <a:avLst/>
          </a:prstGeom>
        </p:spPr>
      </p:pic>
      <p:sp>
        <p:nvSpPr>
          <p:cNvPr id="9" name="TextBox 8"/>
          <p:cNvSpPr txBox="1"/>
          <p:nvPr/>
        </p:nvSpPr>
        <p:spPr>
          <a:xfrm>
            <a:off x="7406640" y="5760720"/>
            <a:ext cx="3840480" cy="457200"/>
          </a:xfrm>
          <a:prstGeom prst="rect">
            <a:avLst/>
          </a:prstGeom>
          <a:noFill/>
        </p:spPr>
        <p:txBody>
          <a:bodyPr wrap="square">
            <a:spAutoFit/>
          </a:bodyPr>
          <a:lstStyle/>
          <a:p>
            <a:pPr algn="ctr">
              <a:defRPr sz="950">
                <a:solidFill>
                  <a:srgbClr val="A0AEC0"/>
                </a:solidFill>
              </a:defRPr>
            </a:pPr>
            <a:r>
              <a:t>Antarmuka pemesanan &amp; kalender sewa CampRent (camprent.vercel.app)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4D399"/>
                </a:solidFill>
              </a:defRPr>
            </a:pPr>
            <a:r>
              <a:t>PROYEK 04: CAMPRENT</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Alur Daur Hidup Sewa, Inspeksi Fisik, &amp; Peran Pengguna</a:t>
            </a:r>
          </a:p>
        </p:txBody>
      </p:sp>
      <p:sp>
        <p:nvSpPr>
          <p:cNvPr id="5" name="Rounded Rectangle 4"/>
          <p:cNvSpPr/>
          <p:nvPr/>
        </p:nvSpPr>
        <p:spPr>
          <a:xfrm>
            <a:off x="731520" y="1645920"/>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68680"/>
          </a:xfrm>
          <a:prstGeom prst="rect">
            <a:avLst/>
          </a:prstGeom>
          <a:noFill/>
        </p:spPr>
        <p:txBody>
          <a:bodyPr wrap="square" lIns="0" tIns="0" rIns="0" bIns="0">
            <a:spAutoFit/>
          </a:bodyPr>
          <a:lstStyle/>
          <a:p>
            <a:pPr>
              <a:defRPr sz="1000" b="1">
                <a:solidFill>
                  <a:srgbClr val="34D399"/>
                </a:solidFill>
              </a:defRPr>
            </a:pPr>
            <a:r>
              <a:t>TAHAP 1: SELEKSI &amp; CEK TANGGAL</a:t>
            </a:r>
          </a:p>
          <a:p>
            <a:pPr>
              <a:spcAft>
                <a:spcPts val="200"/>
              </a:spcAft>
              <a:defRPr sz="1100">
                <a:solidFill>
                  <a:srgbClr val="CBD5E1"/>
                </a:solidFill>
              </a:defRPr>
            </a:pPr>
            <a:r>
              <a:t>Customer memilih paket gear (tenda, nesting, kompor) dan tanggal sewa. Sistem memeriksa apakah unit fisik tersedia pada rentang hari tersebut.</a:t>
            </a:r>
          </a:p>
        </p:txBody>
      </p:sp>
      <p:sp>
        <p:nvSpPr>
          <p:cNvPr id="7" name="Rounded Rectangle 6"/>
          <p:cNvSpPr/>
          <p:nvPr/>
        </p:nvSpPr>
        <p:spPr>
          <a:xfrm>
            <a:off x="731520" y="2816352"/>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10149840" cy="868680"/>
          </a:xfrm>
          <a:prstGeom prst="rect">
            <a:avLst/>
          </a:prstGeom>
          <a:noFill/>
        </p:spPr>
        <p:txBody>
          <a:bodyPr wrap="square" lIns="0" tIns="0" rIns="0" bIns="0">
            <a:spAutoFit/>
          </a:bodyPr>
          <a:lstStyle/>
          <a:p>
            <a:pPr>
              <a:defRPr sz="1000" b="1">
                <a:solidFill>
                  <a:srgbClr val="34D399"/>
                </a:solidFill>
              </a:defRPr>
            </a:pPr>
            <a:r>
              <a:t>TAHAP 2: DEPOSIT &amp; VERIFIKASI IDENTITAS</a:t>
            </a:r>
          </a:p>
          <a:p>
            <a:pPr>
              <a:spcAft>
                <a:spcPts val="200"/>
              </a:spcAft>
              <a:defRPr sz="1100">
                <a:solidFill>
                  <a:srgbClr val="CBD5E1"/>
                </a:solidFill>
              </a:defRPr>
            </a:pPr>
            <a:r>
              <a:t>Unggah kartu identitas resmi (KTP/SIM/KTM) sebagai jaminan sewa fisik serta pembayaran uang muka sewa.</a:t>
            </a:r>
          </a:p>
        </p:txBody>
      </p:sp>
      <p:sp>
        <p:nvSpPr>
          <p:cNvPr id="9" name="Rounded Rectangle 8"/>
          <p:cNvSpPr/>
          <p:nvPr/>
        </p:nvSpPr>
        <p:spPr>
          <a:xfrm>
            <a:off x="731520" y="3986784"/>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96512"/>
            <a:ext cx="10149840" cy="868680"/>
          </a:xfrm>
          <a:prstGeom prst="rect">
            <a:avLst/>
          </a:prstGeom>
          <a:noFill/>
        </p:spPr>
        <p:txBody>
          <a:bodyPr wrap="square" lIns="0" tIns="0" rIns="0" bIns="0">
            <a:spAutoFit/>
          </a:bodyPr>
          <a:lstStyle/>
          <a:p>
            <a:pPr>
              <a:defRPr sz="1000" b="1">
                <a:solidFill>
                  <a:srgbClr val="34D399"/>
                </a:solidFill>
              </a:defRPr>
            </a:pPr>
            <a:r>
              <a:t>TAHAP 3: PICKUP &amp; QUALITY INSPECTION</a:t>
            </a:r>
          </a:p>
          <a:p>
            <a:pPr>
              <a:spcAft>
                <a:spcPts val="200"/>
              </a:spcAft>
              <a:defRPr sz="1100">
                <a:solidFill>
                  <a:srgbClr val="CBD5E1"/>
                </a:solidFill>
              </a:defRPr>
            </a:pPr>
            <a:r>
              <a:t>Staff melakukan checklist kondisi fisik barang bersama customer sebelum barang dibawa keluar dari basecamp rental.</a:t>
            </a:r>
          </a:p>
        </p:txBody>
      </p:sp>
      <p:sp>
        <p:nvSpPr>
          <p:cNvPr id="11" name="Rounded Rectangle 10"/>
          <p:cNvSpPr/>
          <p:nvPr/>
        </p:nvSpPr>
        <p:spPr>
          <a:xfrm>
            <a:off x="731520" y="5157216"/>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66944"/>
            <a:ext cx="10149840" cy="868680"/>
          </a:xfrm>
          <a:prstGeom prst="rect">
            <a:avLst/>
          </a:prstGeom>
          <a:noFill/>
        </p:spPr>
        <p:txBody>
          <a:bodyPr wrap="square" lIns="0" tIns="0" rIns="0" bIns="0">
            <a:spAutoFit/>
          </a:bodyPr>
          <a:lstStyle/>
          <a:p>
            <a:pPr>
              <a:defRPr sz="1000" b="1">
                <a:solidFill>
                  <a:srgbClr val="34D399"/>
                </a:solidFill>
              </a:defRPr>
            </a:pPr>
            <a:r>
              <a:t>TAHAP 4: RETURN &amp; AUTO-PENALTY</a:t>
            </a:r>
          </a:p>
          <a:p>
            <a:pPr>
              <a:spcAft>
                <a:spcPts val="200"/>
              </a:spcAft>
              <a:defRPr sz="1100">
                <a:solidFill>
                  <a:srgbClr val="CBD5E1"/>
                </a:solidFill>
              </a:defRPr>
            </a:pPr>
            <a:r>
              <a:t>Pengembalian barang: staff memeriksa kelengkapan unit. Jika ada kerusakan atau terlambat hari, sistem otomatis menghitung denda.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ANALISIS KOMPARATIF</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Perbandingan Fitur, Tech Stack, &amp; Fokus Bisnis 4 Solusi</a:t>
            </a:r>
          </a:p>
        </p:txBody>
      </p:sp>
      <p:graphicFrame>
        <p:nvGraphicFramePr>
          <p:cNvPr id="5" name="Table 4"/>
          <p:cNvGraphicFramePr>
            <a:graphicFrameLocks noGrp="1"/>
          </p:cNvGraphicFramePr>
          <p:nvPr/>
        </p:nvGraphicFramePr>
        <p:xfrm>
          <a:off x="731520" y="1645920"/>
          <a:ext cx="10725912" cy="4663440"/>
        </p:xfrm>
        <a:graphic>
          <a:graphicData uri="http://schemas.openxmlformats.org/drawingml/2006/table">
            <a:tbl>
              <a:tblPr firstRow="1" bandRow="1">
                <a:tableStyleId>{5C22544A-7EE6-4342-B048-85BDC9FD1C3A}</a:tableStyleId>
              </a:tblPr>
              <a:tblGrid>
                <a:gridCol w="1947672"/>
                <a:gridCol w="2194560"/>
                <a:gridCol w="2194560"/>
                <a:gridCol w="2194560"/>
                <a:gridCol w="2194560"/>
              </a:tblGrid>
              <a:tr h="666205">
                <a:tc>
                  <a:txBody>
                    <a:bodyPr/>
                    <a:lstStyle/>
                    <a:p>
                      <a:pPr algn="l">
                        <a:defRPr b="1" sz="1050">
                          <a:solidFill>
                            <a:srgbClr val="FBBF24"/>
                          </a:solidFill>
                        </a:defRPr>
                      </a:pPr>
                      <a:r>
                        <a:t>Parameter</a:t>
                      </a:r>
                    </a:p>
                  </a:txBody>
                  <a:tcPr>
                    <a:solidFill>
                      <a:srgbClr val="1C263E"/>
                    </a:solidFill>
                  </a:tcPr>
                </a:tc>
                <a:tc>
                  <a:txBody>
                    <a:bodyPr/>
                    <a:lstStyle/>
                    <a:p>
                      <a:pPr algn="l">
                        <a:defRPr b="1" sz="1050">
                          <a:solidFill>
                            <a:srgbClr val="FBBF24"/>
                          </a:solidFill>
                        </a:defRPr>
                      </a:pPr>
                      <a:r>
                        <a:t>ChocoTea</a:t>
                      </a:r>
                    </a:p>
                  </a:txBody>
                  <a:tcPr>
                    <a:solidFill>
                      <a:srgbClr val="1C263E"/>
                    </a:solidFill>
                  </a:tcPr>
                </a:tc>
                <a:tc>
                  <a:txBody>
                    <a:bodyPr/>
                    <a:lstStyle/>
                    <a:p>
                      <a:pPr algn="l">
                        <a:defRPr b="1" sz="1050">
                          <a:solidFill>
                            <a:srgbClr val="FBBF24"/>
                          </a:solidFill>
                        </a:defRPr>
                      </a:pPr>
                      <a:r>
                        <a:t>Bandeng Freeze</a:t>
                      </a:r>
                    </a:p>
                  </a:txBody>
                  <a:tcPr>
                    <a:solidFill>
                      <a:srgbClr val="1C263E"/>
                    </a:solidFill>
                  </a:tcPr>
                </a:tc>
                <a:tc>
                  <a:txBody>
                    <a:bodyPr/>
                    <a:lstStyle/>
                    <a:p>
                      <a:pPr algn="l">
                        <a:defRPr b="1" sz="1050">
                          <a:solidFill>
                            <a:srgbClr val="FBBF24"/>
                          </a:solidFill>
                        </a:defRPr>
                      </a:pPr>
                      <a:r>
                        <a:t>PawMart POS</a:t>
                      </a:r>
                    </a:p>
                  </a:txBody>
                  <a:tcPr>
                    <a:solidFill>
                      <a:srgbClr val="1C263E"/>
                    </a:solidFill>
                  </a:tcPr>
                </a:tc>
                <a:tc>
                  <a:txBody>
                    <a:bodyPr/>
                    <a:lstStyle/>
                    <a:p>
                      <a:pPr algn="l">
                        <a:defRPr b="1" sz="1050">
                          <a:solidFill>
                            <a:srgbClr val="FBBF24"/>
                          </a:solidFill>
                        </a:defRPr>
                      </a:pPr>
                      <a:r>
                        <a:t>CampRent</a:t>
                      </a:r>
                    </a:p>
                  </a:txBody>
                  <a:tcPr>
                    <a:solidFill>
                      <a:srgbClr val="1C263E"/>
                    </a:solidFill>
                  </a:tcPr>
                </a:tc>
              </a:tr>
              <a:tr h="666205">
                <a:tc>
                  <a:txBody>
                    <a:bodyPr/>
                    <a:lstStyle/>
                    <a:p>
                      <a:pPr algn="l">
                        <a:defRPr sz="950" b="1">
                          <a:solidFill>
                            <a:srgbClr val="FFFFFF"/>
                          </a:solidFill>
                        </a:defRPr>
                      </a:pPr>
                      <a:r>
                        <a:t>Tipe Solusi</a:t>
                      </a:r>
                    </a:p>
                  </a:txBody>
                  <a:tcPr>
                    <a:solidFill>
                      <a:srgbClr val="141A2A"/>
                    </a:solidFill>
                  </a:tcPr>
                </a:tc>
                <a:tc>
                  <a:txBody>
                    <a:bodyPr/>
                    <a:lstStyle/>
                    <a:p>
                      <a:pPr algn="l">
                        <a:defRPr sz="950">
                          <a:solidFill>
                            <a:srgbClr val="CBD5E1"/>
                          </a:solidFill>
                        </a:defRPr>
                      </a:pPr>
                      <a:r>
                        <a:t>Brand Showcase Page</a:t>
                      </a:r>
                    </a:p>
                  </a:txBody>
                  <a:tcPr>
                    <a:solidFill>
                      <a:srgbClr val="141A2A"/>
                    </a:solidFill>
                  </a:tcPr>
                </a:tc>
                <a:tc>
                  <a:txBody>
                    <a:bodyPr/>
                    <a:lstStyle/>
                    <a:p>
                      <a:pPr algn="l">
                        <a:defRPr sz="950">
                          <a:solidFill>
                            <a:srgbClr val="CBD5E1"/>
                          </a:solidFill>
                        </a:defRPr>
                      </a:pPr>
                      <a:r>
                        <a:t>Seafood E-Commerce</a:t>
                      </a:r>
                    </a:p>
                  </a:txBody>
                  <a:tcPr>
                    <a:solidFill>
                      <a:srgbClr val="141A2A"/>
                    </a:solidFill>
                  </a:tcPr>
                </a:tc>
                <a:tc>
                  <a:txBody>
                    <a:bodyPr/>
                    <a:lstStyle/>
                    <a:p>
                      <a:pPr algn="l">
                        <a:defRPr sz="950">
                          <a:solidFill>
                            <a:srgbClr val="CBD5E1"/>
                          </a:solidFill>
                        </a:defRPr>
                      </a:pPr>
                      <a:r>
                        <a:t>Pet Care POS / ERP</a:t>
                      </a:r>
                    </a:p>
                  </a:txBody>
                  <a:tcPr>
                    <a:solidFill>
                      <a:srgbClr val="141A2A"/>
                    </a:solidFill>
                  </a:tcPr>
                </a:tc>
                <a:tc>
                  <a:txBody>
                    <a:bodyPr/>
                    <a:lstStyle/>
                    <a:p>
                      <a:pPr algn="l">
                        <a:defRPr sz="950">
                          <a:solidFill>
                            <a:srgbClr val="CBD5E1"/>
                          </a:solidFill>
                        </a:defRPr>
                      </a:pPr>
                      <a:r>
                        <a:t>Gear Rental Management</a:t>
                      </a:r>
                    </a:p>
                  </a:txBody>
                  <a:tcPr>
                    <a:solidFill>
                      <a:srgbClr val="141A2A"/>
                    </a:solidFill>
                  </a:tcPr>
                </a:tc>
              </a:tr>
              <a:tr h="666205">
                <a:tc>
                  <a:txBody>
                    <a:bodyPr/>
                    <a:lstStyle/>
                    <a:p>
                      <a:pPr algn="l">
                        <a:defRPr sz="950" b="1">
                          <a:solidFill>
                            <a:srgbClr val="FFFFFF"/>
                          </a:solidFill>
                        </a:defRPr>
                      </a:pPr>
                      <a:r>
                        <a:t>Framework Frontend</a:t>
                      </a:r>
                    </a:p>
                  </a:txBody>
                  <a:tcPr>
                    <a:solidFill>
                      <a:srgbClr val="101522"/>
                    </a:solidFill>
                  </a:tcPr>
                </a:tc>
                <a:tc>
                  <a:txBody>
                    <a:bodyPr/>
                    <a:lstStyle/>
                    <a:p>
                      <a:pPr algn="l">
                        <a:defRPr sz="950">
                          <a:solidFill>
                            <a:srgbClr val="CBD5E1"/>
                          </a:solidFill>
                        </a:defRPr>
                      </a:pPr>
                      <a:r>
                        <a:t>React 18 + Vite 5</a:t>
                      </a:r>
                    </a:p>
                  </a:txBody>
                  <a:tcPr>
                    <a:solidFill>
                      <a:srgbClr val="101522"/>
                    </a:solidFill>
                  </a:tcPr>
                </a:tc>
                <a:tc>
                  <a:txBody>
                    <a:bodyPr/>
                    <a:lstStyle/>
                    <a:p>
                      <a:pPr algn="l">
                        <a:defRPr sz="950">
                          <a:solidFill>
                            <a:srgbClr val="CBD5E1"/>
                          </a:solidFill>
                        </a:defRPr>
                      </a:pPr>
                      <a:r>
                        <a:t>React 18 + Vite</a:t>
                      </a:r>
                    </a:p>
                  </a:txBody>
                  <a:tcPr>
                    <a:solidFill>
                      <a:srgbClr val="101522"/>
                    </a:solidFill>
                  </a:tcPr>
                </a:tc>
                <a:tc>
                  <a:txBody>
                    <a:bodyPr/>
                    <a:lstStyle/>
                    <a:p>
                      <a:pPr algn="l">
                        <a:defRPr sz="950">
                          <a:solidFill>
                            <a:srgbClr val="CBD5E1"/>
                          </a:solidFill>
                        </a:defRPr>
                      </a:pPr>
                      <a:r>
                        <a:t>Next.js + React</a:t>
                      </a:r>
                    </a:p>
                  </a:txBody>
                  <a:tcPr>
                    <a:solidFill>
                      <a:srgbClr val="101522"/>
                    </a:solidFill>
                  </a:tcPr>
                </a:tc>
                <a:tc>
                  <a:txBody>
                    <a:bodyPr/>
                    <a:lstStyle/>
                    <a:p>
                      <a:pPr algn="l">
                        <a:defRPr sz="950">
                          <a:solidFill>
                            <a:srgbClr val="CBD5E1"/>
                          </a:solidFill>
                        </a:defRPr>
                      </a:pPr>
                      <a:r>
                        <a:t>Next.js 15 + React</a:t>
                      </a:r>
                    </a:p>
                  </a:txBody>
                  <a:tcPr>
                    <a:solidFill>
                      <a:srgbClr val="101522"/>
                    </a:solidFill>
                  </a:tcPr>
                </a:tc>
              </a:tr>
              <a:tr h="666205">
                <a:tc>
                  <a:txBody>
                    <a:bodyPr/>
                    <a:lstStyle/>
                    <a:p>
                      <a:pPr algn="l">
                        <a:defRPr sz="950" b="1">
                          <a:solidFill>
                            <a:srgbClr val="FFFFFF"/>
                          </a:solidFill>
                        </a:defRPr>
                      </a:pPr>
                      <a:r>
                        <a:t>Bahasa &amp; Gaya</a:t>
                      </a:r>
                    </a:p>
                  </a:txBody>
                  <a:tcPr>
                    <a:solidFill>
                      <a:srgbClr val="141A2A"/>
                    </a:solidFill>
                  </a:tcPr>
                </a:tc>
                <a:tc>
                  <a:txBody>
                    <a:bodyPr/>
                    <a:lstStyle/>
                    <a:p>
                      <a:pPr algn="l">
                        <a:defRPr sz="950">
                          <a:solidFill>
                            <a:srgbClr val="CBD5E1"/>
                          </a:solidFill>
                        </a:defRPr>
                      </a:pPr>
                      <a:r>
                        <a:t>TypeScript + Tailwind</a:t>
                      </a:r>
                    </a:p>
                  </a:txBody>
                  <a:tcPr>
                    <a:solidFill>
                      <a:srgbClr val="141A2A"/>
                    </a:solidFill>
                  </a:tcPr>
                </a:tc>
                <a:tc>
                  <a:txBody>
                    <a:bodyPr/>
                    <a:lstStyle/>
                    <a:p>
                      <a:pPr algn="l">
                        <a:defRPr sz="950">
                          <a:solidFill>
                            <a:srgbClr val="CBD5E1"/>
                          </a:solidFill>
                        </a:defRPr>
                      </a:pPr>
                      <a:r>
                        <a:t>JavaScript + Tailwind</a:t>
                      </a:r>
                    </a:p>
                  </a:txBody>
                  <a:tcPr>
                    <a:solidFill>
                      <a:srgbClr val="141A2A"/>
                    </a:solidFill>
                  </a:tcPr>
                </a:tc>
                <a:tc>
                  <a:txBody>
                    <a:bodyPr/>
                    <a:lstStyle/>
                    <a:p>
                      <a:pPr algn="l">
                        <a:defRPr sz="950">
                          <a:solidFill>
                            <a:srgbClr val="CBD5E1"/>
                          </a:solidFill>
                        </a:defRPr>
                      </a:pPr>
                      <a:r>
                        <a:t>TypeScript + Tailwind</a:t>
                      </a:r>
                    </a:p>
                  </a:txBody>
                  <a:tcPr>
                    <a:solidFill>
                      <a:srgbClr val="141A2A"/>
                    </a:solidFill>
                  </a:tcPr>
                </a:tc>
                <a:tc>
                  <a:txBody>
                    <a:bodyPr/>
                    <a:lstStyle/>
                    <a:p>
                      <a:pPr algn="l">
                        <a:defRPr sz="950">
                          <a:solidFill>
                            <a:srgbClr val="CBD5E1"/>
                          </a:solidFill>
                        </a:defRPr>
                      </a:pPr>
                      <a:r>
                        <a:t>TypeScript + Tailwind</a:t>
                      </a:r>
                    </a:p>
                  </a:txBody>
                  <a:tcPr>
                    <a:solidFill>
                      <a:srgbClr val="141A2A"/>
                    </a:solidFill>
                  </a:tcPr>
                </a:tc>
              </a:tr>
              <a:tr h="666205">
                <a:tc>
                  <a:txBody>
                    <a:bodyPr/>
                    <a:lstStyle/>
                    <a:p>
                      <a:pPr algn="l">
                        <a:defRPr sz="950" b="1">
                          <a:solidFill>
                            <a:srgbClr val="FFFFFF"/>
                          </a:solidFill>
                        </a:defRPr>
                      </a:pPr>
                      <a:r>
                        <a:t>Library Animasi / UI</a:t>
                      </a:r>
                    </a:p>
                  </a:txBody>
                  <a:tcPr>
                    <a:solidFill>
                      <a:srgbClr val="101522"/>
                    </a:solidFill>
                  </a:tcPr>
                </a:tc>
                <a:tc>
                  <a:txBody>
                    <a:bodyPr/>
                    <a:lstStyle/>
                    <a:p>
                      <a:pPr algn="l">
                        <a:defRPr sz="950">
                          <a:solidFill>
                            <a:srgbClr val="CBD5E1"/>
                          </a:solidFill>
                        </a:defRPr>
                      </a:pPr>
                      <a:r>
                        <a:t>GSAP ScrollTrigger + Lenis</a:t>
                      </a:r>
                    </a:p>
                  </a:txBody>
                  <a:tcPr>
                    <a:solidFill>
                      <a:srgbClr val="101522"/>
                    </a:solidFill>
                  </a:tcPr>
                </a:tc>
                <a:tc>
                  <a:txBody>
                    <a:bodyPr/>
                    <a:lstStyle/>
                    <a:p>
                      <a:pPr algn="l">
                        <a:defRPr sz="950">
                          <a:solidFill>
                            <a:srgbClr val="CBD5E1"/>
                          </a:solidFill>
                        </a:defRPr>
                      </a:pPr>
                      <a:r>
                        <a:t>Framer Motion (60 FPS)</a:t>
                      </a:r>
                    </a:p>
                  </a:txBody>
                  <a:tcPr>
                    <a:solidFill>
                      <a:srgbClr val="101522"/>
                    </a:solidFill>
                  </a:tcPr>
                </a:tc>
                <a:tc>
                  <a:txBody>
                    <a:bodyPr/>
                    <a:lstStyle/>
                    <a:p>
                      <a:pPr algn="l">
                        <a:defRPr sz="950">
                          <a:solidFill>
                            <a:srgbClr val="CBD5E1"/>
                          </a:solidFill>
                        </a:defRPr>
                      </a:pPr>
                      <a:r>
                        <a:t>Framer Motion + shadcn</a:t>
                      </a:r>
                    </a:p>
                  </a:txBody>
                  <a:tcPr>
                    <a:solidFill>
                      <a:srgbClr val="101522"/>
                    </a:solidFill>
                  </a:tcPr>
                </a:tc>
                <a:tc>
                  <a:txBody>
                    <a:bodyPr/>
                    <a:lstStyle/>
                    <a:p>
                      <a:pPr algn="l">
                        <a:defRPr sz="950">
                          <a:solidFill>
                            <a:srgbClr val="CBD5E1"/>
                          </a:solidFill>
                        </a:defRPr>
                      </a:pPr>
                      <a:r>
                        <a:t>Tailwind CSS UI</a:t>
                      </a:r>
                    </a:p>
                  </a:txBody>
                  <a:tcPr>
                    <a:solidFill>
                      <a:srgbClr val="101522"/>
                    </a:solidFill>
                  </a:tcPr>
                </a:tc>
              </a:tr>
              <a:tr h="666205">
                <a:tc>
                  <a:txBody>
                    <a:bodyPr/>
                    <a:lstStyle/>
                    <a:p>
                      <a:pPr algn="l">
                        <a:defRPr sz="950" b="1">
                          <a:solidFill>
                            <a:srgbClr val="FFFFFF"/>
                          </a:solidFill>
                        </a:defRPr>
                      </a:pPr>
                      <a:r>
                        <a:t>Integrasi Transaksi</a:t>
                      </a:r>
                    </a:p>
                  </a:txBody>
                  <a:tcPr>
                    <a:solidFill>
                      <a:srgbClr val="141A2A"/>
                    </a:solidFill>
                  </a:tcPr>
                </a:tc>
                <a:tc>
                  <a:txBody>
                    <a:bodyPr/>
                    <a:lstStyle/>
                    <a:p>
                      <a:pPr algn="l">
                        <a:defRPr sz="950">
                          <a:solidFill>
                            <a:srgbClr val="CBD5E1"/>
                          </a:solidFill>
                        </a:defRPr>
                      </a:pPr>
                      <a:r>
                        <a:t>Multi-Food Delivery Apps</a:t>
                      </a:r>
                    </a:p>
                  </a:txBody>
                  <a:tcPr>
                    <a:solidFill>
                      <a:srgbClr val="141A2A"/>
                    </a:solidFill>
                  </a:tcPr>
                </a:tc>
                <a:tc>
                  <a:txBody>
                    <a:bodyPr/>
                    <a:lstStyle/>
                    <a:p>
                      <a:pPr algn="l">
                        <a:defRPr sz="950">
                          <a:solidFill>
                            <a:srgbClr val="CBD5E1"/>
                          </a:solidFill>
                        </a:defRPr>
                      </a:pPr>
                      <a:r>
                        <a:t>Direct WhatsApp Order</a:t>
                      </a:r>
                    </a:p>
                  </a:txBody>
                  <a:tcPr>
                    <a:solidFill>
                      <a:srgbClr val="141A2A"/>
                    </a:solidFill>
                  </a:tcPr>
                </a:tc>
                <a:tc>
                  <a:txBody>
                    <a:bodyPr/>
                    <a:lstStyle/>
                    <a:p>
                      <a:pPr algn="l">
                        <a:defRPr sz="950">
                          <a:solidFill>
                            <a:srgbClr val="CBD5E1"/>
                          </a:solidFill>
                        </a:defRPr>
                      </a:pPr>
                      <a:r>
                        <a:t>Kasir POS + Split Payment</a:t>
                      </a:r>
                    </a:p>
                  </a:txBody>
                  <a:tcPr>
                    <a:solidFill>
                      <a:srgbClr val="141A2A"/>
                    </a:solidFill>
                  </a:tcPr>
                </a:tc>
                <a:tc>
                  <a:txBody>
                    <a:bodyPr/>
                    <a:lstStyle/>
                    <a:p>
                      <a:pPr algn="l">
                        <a:defRPr sz="950">
                          <a:solidFill>
                            <a:srgbClr val="CBD5E1"/>
                          </a:solidFill>
                        </a:defRPr>
                      </a:pPr>
                      <a:r>
                        <a:t>Prisma ORM + Supabase</a:t>
                      </a:r>
                    </a:p>
                  </a:txBody>
                  <a:tcPr>
                    <a:solidFill>
                      <a:srgbClr val="141A2A"/>
                    </a:solidFill>
                  </a:tcPr>
                </a:tc>
              </a:tr>
              <a:tr h="666210">
                <a:tc>
                  <a:txBody>
                    <a:bodyPr/>
                    <a:lstStyle/>
                    <a:p>
                      <a:pPr algn="l">
                        <a:defRPr sz="950" b="1">
                          <a:solidFill>
                            <a:srgbClr val="FFFFFF"/>
                          </a:solidFill>
                        </a:defRPr>
                      </a:pPr>
                      <a:r>
                        <a:t>Keunggulan Kunci</a:t>
                      </a:r>
                    </a:p>
                  </a:txBody>
                  <a:tcPr>
                    <a:solidFill>
                      <a:srgbClr val="101522"/>
                    </a:solidFill>
                  </a:tcPr>
                </a:tc>
                <a:tc>
                  <a:txBody>
                    <a:bodyPr/>
                    <a:lstStyle/>
                    <a:p>
                      <a:pPr algn="l">
                        <a:defRPr sz="950">
                          <a:solidFill>
                            <a:srgbClr val="CBD5E1"/>
                          </a:solidFill>
                        </a:defRPr>
                      </a:pPr>
                      <a:r>
                        <a:t>3D Liquid Bottle Animation</a:t>
                      </a:r>
                    </a:p>
                  </a:txBody>
                  <a:tcPr>
                    <a:solidFill>
                      <a:srgbClr val="101522"/>
                    </a:solidFill>
                  </a:tcPr>
                </a:tc>
                <a:tc>
                  <a:txBody>
                    <a:bodyPr/>
                    <a:lstStyle/>
                    <a:p>
                      <a:pPr algn="l">
                        <a:defRPr sz="950">
                          <a:solidFill>
                            <a:srgbClr val="CBD5E1"/>
                          </a:solidFill>
                        </a:defRPr>
                      </a:pPr>
                      <a:r>
                        <a:t>Instant Category Filtering</a:t>
                      </a:r>
                    </a:p>
                  </a:txBody>
                  <a:tcPr>
                    <a:solidFill>
                      <a:srgbClr val="101522"/>
                    </a:solidFill>
                  </a:tcPr>
                </a:tc>
                <a:tc>
                  <a:txBody>
                    <a:bodyPr/>
                    <a:lstStyle/>
                    <a:p>
                      <a:pPr algn="l">
                        <a:defRPr sz="950">
                          <a:solidFill>
                            <a:srgbClr val="CBD5E1"/>
                          </a:solidFill>
                        </a:defRPr>
                      </a:pPr>
                      <a:r>
                        <a:t>Grooming &amp; Hotel Boarding</a:t>
                      </a:r>
                    </a:p>
                  </a:txBody>
                  <a:tcPr>
                    <a:solidFill>
                      <a:srgbClr val="101522"/>
                    </a:solidFill>
                  </a:tcPr>
                </a:tc>
                <a:tc>
                  <a:txBody>
                    <a:bodyPr/>
                    <a:lstStyle/>
                    <a:p>
                      <a:pPr algn="l">
                        <a:defRPr sz="950">
                          <a:solidFill>
                            <a:srgbClr val="CBD5E1"/>
                          </a:solidFill>
                        </a:defRPr>
                      </a:pPr>
                      <a:r>
                        <a:t>Date-Based Gear Booking</a:t>
                      </a:r>
                    </a:p>
                  </a:txBody>
                  <a:tcPr>
                    <a:solidFill>
                      <a:srgbClr val="10152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4D399"/>
                </a:solidFill>
              </a:defRPr>
            </a:pPr>
            <a:r>
              <a:t>NILAI BISNIS &amp; DAMPAK</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Peningkatan Konversi Penjualan &amp; Efisiensi Operasional</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60 FPS</a:t>
            </a:r>
          </a:p>
          <a:p>
            <a:pPr>
              <a:spcAft>
                <a:spcPts val="1200"/>
              </a:spcAft>
              <a:defRPr sz="1400" b="1">
                <a:solidFill>
                  <a:srgbClr val="FFFFFF"/>
                </a:solidFill>
              </a:defRPr>
            </a:pPr>
            <a:r>
              <a:t>Kenyamanan Visual Imersif</a:t>
            </a:r>
          </a:p>
          <a:p>
            <a:pPr>
              <a:defRPr sz="1050">
                <a:solidFill>
                  <a:srgbClr val="A0AEC0"/>
                </a:solidFill>
              </a:defRPr>
            </a:pPr>
            <a:r>
              <a:t>Animasi yang halus dan interaksi responsif menaikkan average time-on-page dan membangun persepsi brand yang premium bagi ChocoTea.</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+45%</a:t>
            </a:r>
          </a:p>
          <a:p>
            <a:pPr>
              <a:spcAft>
                <a:spcPts val="1200"/>
              </a:spcAft>
              <a:defRPr sz="1400" b="1">
                <a:solidFill>
                  <a:srgbClr val="FFFFFF"/>
                </a:solidFill>
              </a:defRPr>
            </a:pPr>
            <a:r>
              <a:t>Konversi Order Cepat</a:t>
            </a:r>
          </a:p>
          <a:p>
            <a:pPr>
              <a:defRPr sz="1050">
                <a:solidFill>
                  <a:srgbClr val="A0AEC0"/>
                </a:solidFill>
              </a:defRPr>
            </a:pPr>
            <a:r>
              <a:t>Integrasi pemesanan langsung WhatsApp pada Bandeng Freeze memotong jalur checkout yang berbelit sehingga calon pembeli tidak drop-off.</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0 Bentrok</a:t>
            </a:r>
          </a:p>
          <a:p>
            <a:pPr>
              <a:spcAft>
                <a:spcPts val="1200"/>
              </a:spcAft>
              <a:defRPr sz="1400" b="1">
                <a:solidFill>
                  <a:srgbClr val="FFFFFF"/>
                </a:solidFill>
              </a:defRPr>
            </a:pPr>
            <a:r>
              <a:t>Akurasi Jadwal &amp; Kamar</a:t>
            </a:r>
          </a:p>
          <a:p>
            <a:pPr>
              <a:defRPr sz="1050">
                <a:solidFill>
                  <a:srgbClr val="A0AEC0"/>
                </a:solidFill>
              </a:defRPr>
            </a:pPr>
            <a:r>
              <a:t>Boarding map PawMart dan date-based engine CampRent menjamin tidak ada jadwal tumpang tindih untuk kamar hewan maupun unit tenda sewa.</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2011680"/>
            <a:ext cx="2176272" cy="3931920"/>
          </a:xfrm>
          <a:prstGeom prst="rect">
            <a:avLst/>
          </a:prstGeom>
          <a:noFill/>
        </p:spPr>
        <p:txBody>
          <a:bodyPr wrap="square" lIns="0" tIns="0" rIns="0" bIns="0">
            <a:spAutoFit/>
          </a:bodyPr>
          <a:lstStyle/>
          <a:p>
            <a:pPr>
              <a:spcAft>
                <a:spcPts val="400"/>
              </a:spcAft>
              <a:defRPr sz="3600" b="1">
                <a:solidFill>
                  <a:srgbClr val="34D399"/>
                </a:solidFill>
              </a:defRPr>
            </a:pPr>
            <a:r>
              <a:t>3-in-1</a:t>
            </a:r>
          </a:p>
          <a:p>
            <a:pPr>
              <a:spcAft>
                <a:spcPts val="1200"/>
              </a:spcAft>
              <a:defRPr sz="1400" b="1">
                <a:solidFill>
                  <a:srgbClr val="FFFFFF"/>
                </a:solidFill>
              </a:defRPr>
            </a:pPr>
            <a:r>
              <a:t>Efisiensi Multi-Peran</a:t>
            </a:r>
          </a:p>
          <a:p>
            <a:pPr>
              <a:defRPr sz="1050">
                <a:solidFill>
                  <a:srgbClr val="A0AEC0"/>
                </a:solidFill>
              </a:defRPr>
            </a:pPr>
            <a:r>
              <a:t>Menggabungkan fungsi kasir, inventaris, dan pelaporan operasional dalam satu dashboard terpusat tanpa perlu berlangganan banyak software terpisah.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PENUTUP &amp; TAUTAN DEMO</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Informasi Kontak Pengembang &amp; Repositori Proyek</a:t>
            </a:r>
          </a:p>
        </p:txBody>
      </p:sp>
      <p:sp>
        <p:nvSpPr>
          <p:cNvPr id="5" name="Rounded Rectangle 4"/>
          <p:cNvSpPr/>
          <p:nvPr/>
        </p:nvSpPr>
        <p:spPr>
          <a:xfrm>
            <a:off x="731520" y="1645920"/>
            <a:ext cx="1072591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9966960" cy="4206240"/>
          </a:xfrm>
          <a:prstGeom prst="rect">
            <a:avLst/>
          </a:prstGeom>
          <a:noFill/>
        </p:spPr>
        <p:txBody>
          <a:bodyPr wrap="square" lIns="0" tIns="0" rIns="0" bIns="0">
            <a:spAutoFit/>
          </a:bodyPr>
          <a:lstStyle/>
          <a:p>
            <a:pPr>
              <a:defRPr sz="2400" b="1">
                <a:solidFill>
                  <a:srgbClr val="FFFFFF"/>
                </a:solidFill>
              </a:defRPr>
            </a:pPr>
            <a:r>
              <a:t>Faliqul Ishbah</a:t>
            </a:r>
          </a:p>
          <a:p>
            <a:pPr>
              <a:spcAft>
                <a:spcPts val="1400"/>
              </a:spcAft>
              <a:defRPr sz="1300">
                <a:solidFill>
                  <a:srgbClr val="FBBF24"/>
                </a:solidFill>
              </a:defRPr>
            </a:pPr>
            <a:r>
              <a:t>Fullstack &amp; Frontend Web Developer • Data Scientist • AI Automation Engineer</a:t>
            </a:r>
          </a:p>
          <a:p>
            <a:pPr>
              <a:defRPr sz="1200" b="1">
                <a:solidFill>
                  <a:srgbClr val="34D399"/>
                </a:solidFill>
              </a:defRPr>
            </a:pPr>
            <a:r>
              <a:t>Live Demo &amp; Tautan Aplikasi:</a:t>
            </a:r>
          </a:p>
          <a:p>
            <a:pPr>
              <a:spcAft>
                <a:spcPts val="200"/>
              </a:spcAft>
              <a:defRPr sz="1050">
                <a:solidFill>
                  <a:srgbClr val="CBD5E1"/>
                </a:solidFill>
              </a:defRPr>
            </a:pPr>
            <a:r>
              <a:t>🍹 ChocoTea: https://chocotea.vercel.app/ (GitHub: https://github.com/Faliqulxx/ChocoTEA)</a:t>
            </a:r>
          </a:p>
          <a:p>
            <a:pPr>
              <a:spcAft>
                <a:spcPts val="200"/>
              </a:spcAft>
              <a:defRPr sz="1050">
                <a:solidFill>
                  <a:srgbClr val="CBD5E1"/>
                </a:solidFill>
              </a:defRPr>
            </a:pPr>
            <a:r>
              <a:t>🐟 Bandeng Freeze: https://bandengfrezzz-cfk8.vercel.app/ (GitHub: https://github.com/Faliqulxx/bandengfrezzz)</a:t>
            </a:r>
          </a:p>
          <a:p>
            <a:pPr>
              <a:spcAft>
                <a:spcPts val="200"/>
              </a:spcAft>
              <a:defRPr sz="1050">
                <a:solidFill>
                  <a:srgbClr val="CBD5E1"/>
                </a:solidFill>
              </a:defRPr>
            </a:pPr>
            <a:r>
              <a:t>🐾 PawMart POS: https://paw-mart-nine.vercel.app/ (GitHub: https://github.com/Faliqulxx/PawMart)</a:t>
            </a:r>
          </a:p>
          <a:p>
            <a:pPr>
              <a:spcAft>
                <a:spcPts val="200"/>
              </a:spcAft>
              <a:defRPr sz="1050">
                <a:solidFill>
                  <a:srgbClr val="CBD5E1"/>
                </a:solidFill>
              </a:defRPr>
            </a:pPr>
            <a:r>
              <a:t>⛺ CampRent: https://camprent.vercel.app/ (GitHub: https://github.com/Faliqulxx/CamRent)</a:t>
            </a:r>
          </a:p>
          <a:p>
            <a:pPr>
              <a:spcBef>
                <a:spcPts val="800"/>
              </a:spcBef>
              <a:defRPr sz="1200" b="1">
                <a:solidFill>
                  <a:srgbClr val="38BDF8"/>
                </a:solidFill>
              </a:defRPr>
            </a:pPr>
            <a:r>
              <a:t>Kontak Pengembang:</a:t>
            </a:r>
          </a:p>
          <a:p>
            <a:pPr>
              <a:spcAft>
                <a:spcPts val="200"/>
              </a:spcAft>
              <a:defRPr sz="1050">
                <a:solidFill>
                  <a:srgbClr val="A0AEC0"/>
                </a:solidFill>
              </a:defRPr>
            </a:pPr>
            <a:r>
              <a:t>🌐 Website Utama: https://faliq-portfolio.vercel.app/</a:t>
            </a:r>
          </a:p>
          <a:p>
            <a:pPr>
              <a:spcAft>
                <a:spcPts val="200"/>
              </a:spcAft>
              <a:defRPr sz="1050">
                <a:solidFill>
                  <a:srgbClr val="A0AEC0"/>
                </a:solidFill>
              </a:defRPr>
            </a:pPr>
            <a:r>
              <a:t>💼 LinkedIn: https://www.linkedin.com/in/faliqulishbah/</a:t>
            </a:r>
          </a:p>
          <a:p>
            <a:pPr>
              <a:spcAft>
                <a:spcPts val="200"/>
              </a:spcAft>
              <a:defRPr sz="1050">
                <a:solidFill>
                  <a:srgbClr val="A0AEC0"/>
                </a:solidFill>
              </a:defRPr>
            </a:pPr>
            <a:r>
              <a:t>🐙 GitHub: https://github.com/Faliqulxx</a:t>
            </a:r>
          </a:p>
          <a:p>
            <a:pPr>
              <a:spcAft>
                <a:spcPts val="200"/>
              </a:spcAft>
              <a:defRPr sz="1050">
                <a:solidFill>
                  <a:srgbClr val="A0AEC0"/>
                </a:solidFill>
              </a:defRPr>
            </a:pPr>
            <a:r>
              <a:t>✉️ Email: faliqul.isback@gmail.com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